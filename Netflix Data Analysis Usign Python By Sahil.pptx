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70" r:id="rId4"/>
    <p:sldId id="271" r:id="rId5"/>
    <p:sldId id="272" r:id="rId6"/>
    <p:sldId id="273" r:id="rId7"/>
    <p:sldId id="287" r:id="rId8"/>
    <p:sldId id="260" r:id="rId9"/>
    <p:sldId id="261" r:id="rId10"/>
    <p:sldId id="263" r:id="rId11"/>
    <p:sldId id="264" r:id="rId12"/>
    <p:sldId id="266" r:id="rId13"/>
    <p:sldId id="267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3" r:id="rId22"/>
    <p:sldId id="281" r:id="rId23"/>
    <p:sldId id="282" r:id="rId24"/>
    <p:sldId id="284" r:id="rId25"/>
    <p:sldId id="285" r:id="rId26"/>
    <p:sldId id="288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24A34-DC9F-4DDC-9EBF-B98EEF778AA2}" type="datetimeFigureOut">
              <a:rPr lang="en-IN" smtClean="0"/>
              <a:t>30-07-2025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A8C4D-9330-43D3-BA1E-B49AA85170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0375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24A34-DC9F-4DDC-9EBF-B98EEF778AA2}" type="datetimeFigureOut">
              <a:rPr lang="en-IN" smtClean="0"/>
              <a:t>30-07-2025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A8C4D-9330-43D3-BA1E-B49AA85170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9889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24A34-DC9F-4DDC-9EBF-B98EEF778AA2}" type="datetimeFigureOut">
              <a:rPr lang="en-IN" smtClean="0"/>
              <a:t>30-07-2025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A8C4D-9330-43D3-BA1E-B49AA85170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8665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24A34-DC9F-4DDC-9EBF-B98EEF778AA2}" type="datetimeFigureOut">
              <a:rPr lang="en-IN" smtClean="0"/>
              <a:t>30-07-2025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A8C4D-9330-43D3-BA1E-B49AA85170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227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24A34-DC9F-4DDC-9EBF-B98EEF778AA2}" type="datetimeFigureOut">
              <a:rPr lang="en-IN" smtClean="0"/>
              <a:t>30-07-2025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A8C4D-9330-43D3-BA1E-B49AA85170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7414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24A34-DC9F-4DDC-9EBF-B98EEF778AA2}" type="datetimeFigureOut">
              <a:rPr lang="en-IN" smtClean="0"/>
              <a:t>30-07-2025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A8C4D-9330-43D3-BA1E-B49AA85170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220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24A34-DC9F-4DDC-9EBF-B98EEF778AA2}" type="datetimeFigureOut">
              <a:rPr lang="en-IN" smtClean="0"/>
              <a:t>30-07-2025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A8C4D-9330-43D3-BA1E-B49AA85170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2007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24A34-DC9F-4DDC-9EBF-B98EEF778AA2}" type="datetimeFigureOut">
              <a:rPr lang="en-IN" smtClean="0"/>
              <a:t>30-07-2025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A8C4D-9330-43D3-BA1E-B49AA85170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9579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24A34-DC9F-4DDC-9EBF-B98EEF778AA2}" type="datetimeFigureOut">
              <a:rPr lang="en-IN" smtClean="0"/>
              <a:t>30-07-2025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A8C4D-9330-43D3-BA1E-B49AA85170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8917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24A34-DC9F-4DDC-9EBF-B98EEF778AA2}" type="datetimeFigureOut">
              <a:rPr lang="en-IN" smtClean="0"/>
              <a:t>30-07-2025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A8C4D-9330-43D3-BA1E-B49AA85170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3942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24A34-DC9F-4DDC-9EBF-B98EEF778AA2}" type="datetimeFigureOut">
              <a:rPr lang="en-IN" smtClean="0"/>
              <a:t>30-07-2025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A8C4D-9330-43D3-BA1E-B49AA85170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2926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F24A34-DC9F-4DDC-9EBF-B98EEF778AA2}" type="datetimeFigureOut">
              <a:rPr lang="en-IN" smtClean="0"/>
              <a:t>30-07-2025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2A8C4D-9330-43D3-BA1E-B49AA85170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13583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DEBC8-4BFE-CCA8-82A7-FC713210E3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399" y="163287"/>
            <a:ext cx="11092543" cy="1730828"/>
          </a:xfrm>
        </p:spPr>
        <p:txBody>
          <a:bodyPr>
            <a:normAutofit/>
          </a:bodyPr>
          <a:lstStyle/>
          <a:p>
            <a:r>
              <a:rPr lang="en-US" sz="9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NETFLIX</a:t>
            </a:r>
            <a:endParaRPr lang="en-IN" sz="96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089B6A-71EE-C3FE-97FC-7869CB343B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399" y="2677885"/>
            <a:ext cx="11266715" cy="3298371"/>
          </a:xfrm>
        </p:spPr>
        <p:txBody>
          <a:bodyPr>
            <a:normAutofit/>
          </a:bodyPr>
          <a:lstStyle/>
          <a:p>
            <a:r>
              <a:rPr lang="en-US" sz="6600" b="1" dirty="0">
                <a:solidFill>
                  <a:srgbClr val="FF0000"/>
                </a:solidFill>
              </a:rPr>
              <a:t>DATA ANALYSIS</a:t>
            </a:r>
          </a:p>
          <a:p>
            <a:endParaRPr lang="en-US" sz="8000" b="1" dirty="0">
              <a:solidFill>
                <a:srgbClr val="FF0000"/>
              </a:solidFill>
            </a:endParaRPr>
          </a:p>
          <a:p>
            <a:r>
              <a:rPr lang="en-US" sz="6000" b="1" dirty="0">
                <a:solidFill>
                  <a:srgbClr val="FF0000"/>
                </a:solidFill>
              </a:rPr>
              <a:t>BY SAHIL</a:t>
            </a:r>
          </a:p>
          <a:p>
            <a:endParaRPr lang="en-US" sz="8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4517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091EB-B583-8C37-6D6C-A9B252184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630" y="228601"/>
            <a:ext cx="10842170" cy="1066799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Netflix History</a:t>
            </a:r>
            <a:endParaRPr lang="en-IN" sz="4800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407F6-6B0F-DD7D-5978-60E606863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4171" y="1825624"/>
            <a:ext cx="11800115" cy="4803775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omic Sans MS" panose="030F0702030302020204" pitchFamily="66" charset="0"/>
              </a:rPr>
              <a:t>Netflix was </a:t>
            </a:r>
            <a:r>
              <a:rPr lang="en-US" sz="2400" dirty="0">
                <a:solidFill>
                  <a:srgbClr val="FFFF00"/>
                </a:solidFill>
                <a:latin typeface="Comic Sans MS" panose="030F0702030302020204" pitchFamily="66" charset="0"/>
              </a:rPr>
              <a:t>founded in 1997 by Reed Hastings and Marc Randolph in California as a DVD rental-by-mail service</a:t>
            </a:r>
            <a:r>
              <a:rPr lang="en-US" sz="2400" dirty="0">
                <a:latin typeface="Comic Sans MS" panose="030F0702030302020204" pitchFamily="66" charset="0"/>
              </a:rPr>
              <a:t>. The idea was to make movie rentals more convenient and customer-friendly compared to traditional video rental stores. </a:t>
            </a:r>
          </a:p>
          <a:p>
            <a:r>
              <a:rPr lang="en-US" sz="2400" dirty="0">
                <a:solidFill>
                  <a:srgbClr val="FFFF00"/>
                </a:solidFill>
                <a:latin typeface="Comic Sans MS" panose="030F0702030302020204" pitchFamily="66" charset="0"/>
              </a:rPr>
              <a:t>In 2007, Netflix introduced its online streaming service</a:t>
            </a:r>
            <a:r>
              <a:rPr lang="en-US" sz="2400" dirty="0">
                <a:latin typeface="Comic Sans MS" panose="030F0702030302020204" pitchFamily="66" charset="0"/>
              </a:rPr>
              <a:t>, which allowed users to instantly watch movies and TV shows. This marked a major turning point in its business model</a:t>
            </a:r>
            <a:r>
              <a:rPr lang="en-US" sz="2400" dirty="0">
                <a:solidFill>
                  <a:srgbClr val="FFFF00"/>
                </a:solidFill>
                <a:latin typeface="Comic Sans MS" panose="030F0702030302020204" pitchFamily="66" charset="0"/>
              </a:rPr>
              <a:t>. </a:t>
            </a:r>
          </a:p>
          <a:p>
            <a:r>
              <a:rPr lang="en-US" sz="2400" dirty="0">
                <a:solidFill>
                  <a:srgbClr val="FFFF00"/>
                </a:solidFill>
                <a:latin typeface="Comic Sans MS" panose="030F0702030302020204" pitchFamily="66" charset="0"/>
              </a:rPr>
              <a:t>By 2013, Netflix began producing its own original content, </a:t>
            </a:r>
            <a:r>
              <a:rPr lang="en-US" sz="2400" dirty="0">
                <a:latin typeface="Comic Sans MS" panose="030F0702030302020204" pitchFamily="66" charset="0"/>
              </a:rPr>
              <a:t>starting with the critically acclaimed series </a:t>
            </a:r>
            <a:r>
              <a:rPr lang="en-US" sz="2400" i="1" dirty="0">
                <a:latin typeface="Comic Sans MS" panose="030F0702030302020204" pitchFamily="66" charset="0"/>
              </a:rPr>
              <a:t>House of Cards</a:t>
            </a:r>
            <a:r>
              <a:rPr lang="en-US" sz="2400" dirty="0">
                <a:latin typeface="Comic Sans MS" panose="030F0702030302020204" pitchFamily="66" charset="0"/>
              </a:rPr>
              <a:t>. Over the years, it has </a:t>
            </a:r>
            <a:r>
              <a:rPr lang="en-US" sz="2400" dirty="0">
                <a:solidFill>
                  <a:srgbClr val="FFFF00"/>
                </a:solidFill>
                <a:latin typeface="Comic Sans MS" panose="030F0702030302020204" pitchFamily="66" charset="0"/>
              </a:rPr>
              <a:t>grown into one of the world’s leading entertainment platforms</a:t>
            </a:r>
            <a:r>
              <a:rPr lang="en-US" sz="2400" dirty="0">
                <a:latin typeface="Comic Sans MS" panose="030F0702030302020204" pitchFamily="66" charset="0"/>
              </a:rPr>
              <a:t>, known for global hits like </a:t>
            </a:r>
            <a:r>
              <a:rPr lang="en-US" sz="2400" i="1" dirty="0">
                <a:latin typeface="Comic Sans MS" panose="030F0702030302020204" pitchFamily="66" charset="0"/>
              </a:rPr>
              <a:t>Stranger Things</a:t>
            </a:r>
            <a:r>
              <a:rPr lang="en-US" sz="2400" dirty="0">
                <a:latin typeface="Comic Sans MS" panose="030F0702030302020204" pitchFamily="66" charset="0"/>
              </a:rPr>
              <a:t>, </a:t>
            </a:r>
            <a:r>
              <a:rPr lang="en-US" sz="2400" i="1" dirty="0">
                <a:latin typeface="Comic Sans MS" panose="030F0702030302020204" pitchFamily="66" charset="0"/>
              </a:rPr>
              <a:t>The Crown</a:t>
            </a:r>
            <a:r>
              <a:rPr lang="en-US" sz="2400" dirty="0">
                <a:latin typeface="Comic Sans MS" panose="030F0702030302020204" pitchFamily="66" charset="0"/>
              </a:rPr>
              <a:t>, and </a:t>
            </a:r>
            <a:r>
              <a:rPr lang="en-US" sz="2400" i="1" dirty="0">
                <a:latin typeface="Comic Sans MS" panose="030F0702030302020204" pitchFamily="66" charset="0"/>
              </a:rPr>
              <a:t>Squid Game</a:t>
            </a:r>
            <a:r>
              <a:rPr lang="en-US" sz="2400" dirty="0">
                <a:latin typeface="Comic Sans MS" panose="030F0702030302020204" pitchFamily="66" charset="0"/>
              </a:rPr>
              <a:t>. Today, </a:t>
            </a:r>
            <a:r>
              <a:rPr lang="en-US" sz="2400" dirty="0">
                <a:solidFill>
                  <a:srgbClr val="FFFF00"/>
                </a:solidFill>
                <a:latin typeface="Comic Sans MS" panose="030F0702030302020204" pitchFamily="66" charset="0"/>
              </a:rPr>
              <a:t>Netflix has over 250 million subscribers across more than 190 countries, </a:t>
            </a:r>
            <a:r>
              <a:rPr lang="en-US" sz="2400" dirty="0">
                <a:latin typeface="Comic Sans MS" panose="030F0702030302020204" pitchFamily="66" charset="0"/>
              </a:rPr>
              <a:t>transforming how the world consumes entertainment.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581084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E1153-30DE-6637-68F6-08CB5D73A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657" y="413657"/>
            <a:ext cx="10940143" cy="95794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OBJECTIVE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3286DB6-7A3B-E169-9F80-A3860C7DD0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15686" y="1891537"/>
            <a:ext cx="11647714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The objective of this Exploratory Data Analysis (EDA) project is to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Comic Sans MS" panose="030F0702030302020204" pitchFamily="66" charset="0"/>
              </a:rPr>
              <a:t>deeply examine Netflix’s content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 catalog to uncover meaningful patterns and trends.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 By analyzing various attributes such as content type, genre, release year, country distribution, and creator involvement,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FF00"/>
                </a:solidFill>
                <a:effectLst/>
                <a:latin typeface="Comic Sans MS" panose="030F0702030302020204" pitchFamily="66" charset="0"/>
              </a:rPr>
              <a:t>the goal is to gain insights into Netflix's content strategy and audience preferences, and identify areas for future content opportunities.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2400" dirty="0">
                <a:latin typeface="Comic Sans MS" panose="030F0702030302020204" pitchFamily="66" charset="0"/>
              </a:rPr>
              <a:t>By identifying trends in content type, regional focus, production timelines, and popular genres, the analysis can help </a:t>
            </a:r>
            <a:r>
              <a:rPr lang="en-US" sz="2400" dirty="0">
                <a:solidFill>
                  <a:srgbClr val="FFFF00"/>
                </a:solidFill>
                <a:latin typeface="Comic Sans MS" panose="030F0702030302020204" pitchFamily="66" charset="0"/>
              </a:rPr>
              <a:t>understand Netflix’s expansion strategy, content diversity, and market focus — providing a data-driven view of its competitive positioning in the streaming industry</a:t>
            </a:r>
            <a:r>
              <a:rPr lang="en-US" sz="2400" dirty="0">
                <a:latin typeface="Comic Sans MS" panose="030F0702030302020204" pitchFamily="66" charset="0"/>
              </a:rPr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3880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34469-F43E-9870-D624-AE86DF8ED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229" y="365126"/>
            <a:ext cx="11527971" cy="886731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+mn-lt"/>
              </a:rPr>
              <a:t>PREPROCESSING DATA STEPS</a:t>
            </a:r>
            <a:endParaRPr lang="en-IN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F36F8-1ED4-576E-4DE8-F57B22F23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9229" y="1556658"/>
            <a:ext cx="10994571" cy="4310742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Comic Sans MS" panose="030F0702030302020204" pitchFamily="66" charset="0"/>
              </a:rPr>
              <a:t>1.</a:t>
            </a:r>
            <a:r>
              <a:rPr lang="en-IN" sz="2400" dirty="0">
                <a:latin typeface="Comic Sans MS" panose="030F0702030302020204" pitchFamily="66" charset="0"/>
              </a:rPr>
              <a:t> Importing Necessary Libraries.</a:t>
            </a:r>
          </a:p>
          <a:p>
            <a:r>
              <a:rPr lang="en-US" sz="2400" dirty="0">
                <a:latin typeface="Comic Sans MS" panose="030F0702030302020204" pitchFamily="66" charset="0"/>
              </a:rPr>
              <a:t>2.Loading and Reading the Netflix Data File.</a:t>
            </a:r>
          </a:p>
          <a:p>
            <a:r>
              <a:rPr lang="en-US" sz="2400" dirty="0">
                <a:latin typeface="Comic Sans MS" panose="030F0702030302020204" pitchFamily="66" charset="0"/>
              </a:rPr>
              <a:t>3. No of rows and columns in the Data.</a:t>
            </a:r>
          </a:p>
          <a:p>
            <a:r>
              <a:rPr lang="en-US" sz="2400" dirty="0">
                <a:latin typeface="Comic Sans MS" panose="030F0702030302020204" pitchFamily="66" charset="0"/>
              </a:rPr>
              <a:t>4.</a:t>
            </a:r>
            <a:r>
              <a:rPr lang="en-IN" sz="2400" dirty="0">
                <a:latin typeface="Comic Sans MS" panose="030F0702030302020204" pitchFamily="66" charset="0"/>
              </a:rPr>
              <a:t> Columns Overview.</a:t>
            </a:r>
          </a:p>
          <a:p>
            <a:r>
              <a:rPr lang="en-IN" sz="2400" dirty="0">
                <a:latin typeface="Comic Sans MS" panose="030F0702030302020204" pitchFamily="66" charset="0"/>
              </a:rPr>
              <a:t>5.Data Cleaning (</a:t>
            </a:r>
            <a:r>
              <a:rPr lang="en-IN" sz="2400" dirty="0">
                <a:solidFill>
                  <a:srgbClr val="FFFF00"/>
                </a:solidFill>
                <a:latin typeface="Comic Sans MS" panose="030F0702030302020204" pitchFamily="66" charset="0"/>
              </a:rPr>
              <a:t>Handling Null Values</a:t>
            </a:r>
            <a:r>
              <a:rPr lang="en-IN" sz="2400" dirty="0">
                <a:latin typeface="Comic Sans MS" panose="030F0702030302020204" pitchFamily="66" charset="0"/>
              </a:rPr>
              <a:t>)</a:t>
            </a:r>
          </a:p>
          <a:p>
            <a:r>
              <a:rPr lang="en-IN" sz="2400" dirty="0">
                <a:latin typeface="Comic Sans MS" panose="030F0702030302020204" pitchFamily="66" charset="0"/>
              </a:rPr>
              <a:t>6.Checking Datatypes and </a:t>
            </a:r>
            <a:r>
              <a:rPr lang="en-IN" sz="2400" dirty="0">
                <a:solidFill>
                  <a:srgbClr val="FFFF00"/>
                </a:solidFill>
                <a:latin typeface="Comic Sans MS" panose="030F0702030302020204" pitchFamily="66" charset="0"/>
              </a:rPr>
              <a:t>Changing Datatypes</a:t>
            </a:r>
            <a:r>
              <a:rPr lang="en-IN" sz="2400" dirty="0">
                <a:latin typeface="Comic Sans MS" panose="030F0702030302020204" pitchFamily="66" charset="0"/>
              </a:rPr>
              <a:t>.</a:t>
            </a:r>
          </a:p>
          <a:p>
            <a:r>
              <a:rPr lang="en-IN" sz="2400" dirty="0">
                <a:latin typeface="Comic Sans MS" panose="030F0702030302020204" pitchFamily="66" charset="0"/>
              </a:rPr>
              <a:t>7.Drop Duplicate Rows.</a:t>
            </a:r>
          </a:p>
          <a:p>
            <a:r>
              <a:rPr lang="en-IN" sz="2400" dirty="0">
                <a:latin typeface="Comic Sans MS" panose="030F0702030302020204" pitchFamily="66" charset="0"/>
              </a:rPr>
              <a:t>8.Understanding data :</a:t>
            </a:r>
          </a:p>
          <a:p>
            <a:r>
              <a:rPr lang="en-IN" sz="2400" dirty="0">
                <a:solidFill>
                  <a:srgbClr val="FFFF00"/>
                </a:solidFill>
                <a:latin typeface="Comic Sans MS" panose="030F0702030302020204" pitchFamily="66" charset="0"/>
              </a:rPr>
              <a:t> Using info() and describe() for statistical summary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9283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B6A86-9E38-AC7A-9397-372B686B8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971" y="365126"/>
            <a:ext cx="10874829" cy="973818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+mn-lt"/>
              </a:rPr>
              <a:t>Dataset Overview</a:t>
            </a:r>
            <a:endParaRPr lang="en-IN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2F1BB-D2C0-091E-C432-A1C0E7CB8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886" y="1970314"/>
            <a:ext cx="10961914" cy="4522560"/>
          </a:xfrm>
        </p:spPr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1.There are </a:t>
            </a:r>
            <a:r>
              <a:rPr lang="en-US" dirty="0">
                <a:solidFill>
                  <a:srgbClr val="FFFF00"/>
                </a:solidFill>
                <a:latin typeface="Comic Sans MS" panose="030F0702030302020204" pitchFamily="66" charset="0"/>
              </a:rPr>
              <a:t>8790 Rows and 10 columns</a:t>
            </a:r>
            <a:r>
              <a:rPr lang="en-US" dirty="0">
                <a:latin typeface="Comic Sans MS" panose="030F0702030302020204" pitchFamily="66" charset="0"/>
              </a:rPr>
              <a:t>.</a:t>
            </a:r>
          </a:p>
          <a:p>
            <a:endParaRPr lang="en-US" dirty="0">
              <a:latin typeface="Comic Sans MS" panose="030F0702030302020204" pitchFamily="66" charset="0"/>
            </a:endParaRPr>
          </a:p>
          <a:p>
            <a:r>
              <a:rPr lang="en-US" dirty="0">
                <a:latin typeface="Comic Sans MS" panose="030F0702030302020204" pitchFamily="66" charset="0"/>
              </a:rPr>
              <a:t>2.There are </a:t>
            </a:r>
            <a:r>
              <a:rPr lang="en-US" dirty="0">
                <a:solidFill>
                  <a:srgbClr val="FFFF00"/>
                </a:solidFill>
                <a:latin typeface="Comic Sans MS" panose="030F0702030302020204" pitchFamily="66" charset="0"/>
              </a:rPr>
              <a:t>no null values and duplicate rows.</a:t>
            </a:r>
          </a:p>
          <a:p>
            <a:r>
              <a:rPr lang="en-US" dirty="0">
                <a:solidFill>
                  <a:srgbClr val="FFFF00"/>
                </a:solidFill>
                <a:latin typeface="Comic Sans MS" panose="030F0702030302020204" pitchFamily="66" charset="0"/>
              </a:rPr>
              <a:t> </a:t>
            </a:r>
          </a:p>
          <a:p>
            <a:r>
              <a:rPr lang="en-US" dirty="0">
                <a:latin typeface="Comic Sans MS" panose="030F0702030302020204" pitchFamily="66" charset="0"/>
              </a:rPr>
              <a:t>3.Converted </a:t>
            </a:r>
            <a:r>
              <a:rPr lang="en-US" dirty="0" err="1">
                <a:solidFill>
                  <a:srgbClr val="FFFF00"/>
                </a:solidFill>
                <a:latin typeface="Comic Sans MS" panose="030F0702030302020204" pitchFamily="66" charset="0"/>
              </a:rPr>
              <a:t>date_added</a:t>
            </a:r>
            <a:r>
              <a:rPr lang="en-US" dirty="0">
                <a:solidFill>
                  <a:srgbClr val="FFFF00"/>
                </a:solidFill>
                <a:latin typeface="Comic Sans MS" panose="030F0702030302020204" pitchFamily="66" charset="0"/>
              </a:rPr>
              <a:t> column from object to </a:t>
            </a:r>
            <a:r>
              <a:rPr lang="en-US" dirty="0" err="1">
                <a:solidFill>
                  <a:srgbClr val="FFFF00"/>
                </a:solidFill>
                <a:latin typeface="Comic Sans MS" panose="030F0702030302020204" pitchFamily="66" charset="0"/>
              </a:rPr>
              <a:t>date_time</a:t>
            </a:r>
            <a:r>
              <a:rPr lang="en-US" dirty="0">
                <a:solidFill>
                  <a:srgbClr val="FFFF00"/>
                </a:solidFill>
                <a:latin typeface="Comic Sans MS" panose="030F0702030302020204" pitchFamily="66" charset="0"/>
              </a:rPr>
              <a:t>.</a:t>
            </a:r>
          </a:p>
          <a:p>
            <a:endParaRPr lang="en-US" dirty="0">
              <a:solidFill>
                <a:srgbClr val="FFFF00"/>
              </a:solidFill>
              <a:latin typeface="Comic Sans MS" panose="030F0702030302020204" pitchFamily="66" charset="0"/>
            </a:endParaRPr>
          </a:p>
          <a:p>
            <a:r>
              <a:rPr lang="en-US" dirty="0">
                <a:latin typeface="Comic Sans MS" panose="030F0702030302020204" pitchFamily="66" charset="0"/>
              </a:rPr>
              <a:t>3.1 Converted </a:t>
            </a:r>
            <a:r>
              <a:rPr lang="en-US" dirty="0">
                <a:solidFill>
                  <a:srgbClr val="FFFF00"/>
                </a:solidFill>
                <a:latin typeface="Comic Sans MS" panose="030F0702030302020204" pitchFamily="66" charset="0"/>
              </a:rPr>
              <a:t>type and rating column from object to category.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450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AD862-D68E-F33F-FDCC-DC7D3A6F1F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771" y="152400"/>
            <a:ext cx="10951029" cy="78377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+mn-lt"/>
              </a:rPr>
              <a:t>Columns Overview :</a:t>
            </a:r>
            <a:endParaRPr lang="en-IN" b="1" dirty="0">
              <a:solidFill>
                <a:srgbClr val="FF0000"/>
              </a:solidFill>
              <a:latin typeface="+mn-lt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2528201-CAA1-8AAE-70AE-D0775562C6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69312931"/>
              </p:ext>
            </p:extLst>
          </p:nvPr>
        </p:nvGraphicFramePr>
        <p:xfrm>
          <a:off x="195943" y="1088571"/>
          <a:ext cx="11408228" cy="5637179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4474028">
                  <a:extLst>
                    <a:ext uri="{9D8B030D-6E8A-4147-A177-3AD203B41FA5}">
                      <a16:colId xmlns:a16="http://schemas.microsoft.com/office/drawing/2014/main" val="2648058539"/>
                    </a:ext>
                  </a:extLst>
                </a:gridCol>
                <a:gridCol w="6934200">
                  <a:extLst>
                    <a:ext uri="{9D8B030D-6E8A-4147-A177-3AD203B41FA5}">
                      <a16:colId xmlns:a16="http://schemas.microsoft.com/office/drawing/2014/main" val="3783344082"/>
                    </a:ext>
                  </a:extLst>
                </a:gridCol>
              </a:tblGrid>
              <a:tr h="5878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Comic Sans MS" panose="030F0702030302020204" pitchFamily="66" charset="0"/>
                        </a:rPr>
                        <a:t>Column Name</a:t>
                      </a:r>
                      <a:endParaRPr lang="en-IN" sz="2400" dirty="0">
                        <a:latin typeface="Comic Sans MS" panose="030F0702030302020204" pitchFamily="66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latin typeface="Comic Sans MS" panose="030F0702030302020204" pitchFamily="66" charset="0"/>
                        </a:rPr>
                        <a:t>Description</a:t>
                      </a:r>
                      <a:endParaRPr lang="en-IN" sz="2400" dirty="0">
                        <a:latin typeface="Comic Sans MS" panose="030F0702030302020204" pitchFamily="66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0380735"/>
                  </a:ext>
                </a:extLst>
              </a:tr>
              <a:tr h="469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1. </a:t>
                      </a:r>
                      <a:r>
                        <a:rPr lang="en-IN" sz="2400" b="1" dirty="0" err="1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show_id</a:t>
                      </a:r>
                      <a:endParaRPr lang="en-IN" sz="2400" b="1" dirty="0">
                        <a:solidFill>
                          <a:schemeClr val="tx1"/>
                        </a:solidFill>
                        <a:latin typeface="Comic Sans MS" panose="030F0702030302020204" pitchFamily="66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FF00"/>
                          </a:solidFill>
                          <a:latin typeface="Comic Sans MS" panose="030F0702030302020204" pitchFamily="66" charset="0"/>
                        </a:rPr>
                        <a:t>Unique identifier for each show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2646795"/>
                  </a:ext>
                </a:extLst>
              </a:tr>
              <a:tr h="469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2.type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FF00"/>
                          </a:solidFill>
                          <a:latin typeface="Comic Sans MS" panose="030F0702030302020204" pitchFamily="66" charset="0"/>
                        </a:rPr>
                        <a:t>Whether the content is a Movie or a TV Show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5594580"/>
                  </a:ext>
                </a:extLst>
              </a:tr>
              <a:tr h="469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3.title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FFFF00"/>
                          </a:solidFill>
                          <a:latin typeface="Comic Sans MS" panose="030F0702030302020204" pitchFamily="66" charset="0"/>
                        </a:rPr>
                        <a:t>Name/title of the show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409101"/>
                  </a:ext>
                </a:extLst>
              </a:tr>
              <a:tr h="469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4.director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FF00"/>
                          </a:solidFill>
                          <a:latin typeface="Comic Sans MS" panose="030F0702030302020204" pitchFamily="66" charset="0"/>
                        </a:rPr>
                        <a:t>Name of the show's director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19878423"/>
                  </a:ext>
                </a:extLst>
              </a:tr>
              <a:tr h="469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5.country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FF00"/>
                          </a:solidFill>
                          <a:latin typeface="Comic Sans MS" panose="030F0702030302020204" pitchFamily="66" charset="0"/>
                        </a:rPr>
                        <a:t>Country where the show was produced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210931"/>
                  </a:ext>
                </a:extLst>
              </a:tr>
              <a:tr h="469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6.date_added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FF00"/>
                          </a:solidFill>
                          <a:latin typeface="Comic Sans MS" panose="030F0702030302020204" pitchFamily="66" charset="0"/>
                        </a:rPr>
                        <a:t>Date when the show was added to Netflix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4771122"/>
                  </a:ext>
                </a:extLst>
              </a:tr>
              <a:tr h="469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7.release_year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FF00"/>
                          </a:solidFill>
                          <a:latin typeface="Comic Sans MS" panose="030F0702030302020204" pitchFamily="66" charset="0"/>
                        </a:rPr>
                        <a:t>Year when the show was originally released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7183136"/>
                  </a:ext>
                </a:extLst>
              </a:tr>
              <a:tr h="469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8.Rating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FFFF00"/>
                          </a:solidFill>
                          <a:latin typeface="Comic Sans MS" panose="030F0702030302020204" pitchFamily="66" charset="0"/>
                        </a:rPr>
                        <a:t>Netflix content rating (e.g., TV-MA, PG-13)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5306493"/>
                  </a:ext>
                </a:extLst>
              </a:tr>
              <a:tr h="8219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9.duration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FF00"/>
                          </a:solidFill>
                          <a:latin typeface="Comic Sans MS" panose="030F0702030302020204" pitchFamily="66" charset="0"/>
                        </a:rPr>
                        <a:t>Length of the show (minutes for movies or seasons for TV shows)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8392319"/>
                  </a:ext>
                </a:extLst>
              </a:tr>
              <a:tr h="469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rPr>
                        <a:t>10.listed_in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FF00"/>
                          </a:solidFill>
                          <a:latin typeface="Comic Sans MS" panose="030F0702030302020204" pitchFamily="66" charset="0"/>
                        </a:rPr>
                        <a:t>Genres or categories the show belongs to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77308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84140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6D753-0576-B8CE-3964-20003C9B0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831286" cy="2301875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       </a:t>
            </a:r>
            <a:r>
              <a:rPr lang="en-US" sz="4800" dirty="0">
                <a:solidFill>
                  <a:srgbClr val="FF0000"/>
                </a:solidFill>
                <a:latin typeface="Comic Sans MS" panose="030F0702030302020204" pitchFamily="66" charset="0"/>
              </a:rPr>
              <a:t>Exploratory Data Analysis</a:t>
            </a:r>
            <a:endParaRPr lang="en-IN" sz="4800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82734-AD06-C47C-B9A4-00C12B4E4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2400" y="2666999"/>
            <a:ext cx="3897086" cy="696685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omic Sans MS" panose="030F0702030302020204" pitchFamily="66" charset="0"/>
              </a:rPr>
              <a:t>BY SAHIL</a:t>
            </a:r>
            <a:endParaRPr lang="en-IN" sz="40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0168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8AB54-3B4E-14A5-2507-E64C0E847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171" y="97972"/>
            <a:ext cx="11789229" cy="1012372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+mn-lt"/>
              </a:rPr>
              <a:t>1.Distribution of Netflix content over the years:</a:t>
            </a:r>
            <a:endParaRPr lang="en-IN" b="1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2BAF344-037D-F302-D477-27A8CE97261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86" y="1208314"/>
            <a:ext cx="5758543" cy="5551713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6BF589-892B-7A54-1FAA-A8B796948F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54487" y="1208314"/>
            <a:ext cx="6063342" cy="5464628"/>
          </a:xfrm>
        </p:spPr>
        <p:txBody>
          <a:bodyPr>
            <a:normAutofit/>
          </a:bodyPr>
          <a:lstStyle/>
          <a:p>
            <a:r>
              <a:rPr lang="en-US" sz="3500" dirty="0"/>
              <a:t> </a:t>
            </a:r>
            <a:r>
              <a:rPr lang="en-US" sz="3500" b="1" dirty="0"/>
              <a:t> Insight:</a:t>
            </a:r>
          </a:p>
          <a:p>
            <a:r>
              <a:rPr lang="en-US" sz="3500" b="1" dirty="0"/>
              <a:t>Rise After 1990:</a:t>
            </a:r>
            <a:br>
              <a:rPr lang="en-US" dirty="0"/>
            </a:br>
            <a:r>
              <a:rPr lang="en-US" sz="2400" dirty="0">
                <a:solidFill>
                  <a:srgbClr val="FFFF00"/>
                </a:solidFill>
                <a:latin typeface="Comic Sans MS" panose="030F0702030302020204" pitchFamily="66" charset="0"/>
              </a:rPr>
              <a:t>There was a significant increase in the number of films released after 1990, likely due to the rapid growth and booming phase of the global film industry during that period.</a:t>
            </a:r>
          </a:p>
          <a:p>
            <a:r>
              <a:rPr lang="en-US" sz="3500" b="1" dirty="0"/>
              <a:t>Drop After 2019:</a:t>
            </a:r>
            <a:br>
              <a:rPr lang="en-US" dirty="0"/>
            </a:br>
            <a:r>
              <a:rPr lang="en-US" sz="2400" dirty="0">
                <a:solidFill>
                  <a:srgbClr val="FFFF00"/>
                </a:solidFill>
                <a:latin typeface="Comic Sans MS" panose="030F0702030302020204" pitchFamily="66" charset="0"/>
              </a:rPr>
              <a:t>A sudden decline in film releases is observed after 2019, primarily due to the global COVID-19 pandemic, which disrupted production and distribution across the industry.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4568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2E68A-1F60-3580-ACF2-7D3A101A1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943" y="228599"/>
            <a:ext cx="11157857" cy="936171"/>
          </a:xfrm>
        </p:spPr>
        <p:txBody>
          <a:bodyPr/>
          <a:lstStyle/>
          <a:p>
            <a:r>
              <a:rPr lang="en-IN" b="1" dirty="0"/>
              <a:t> </a:t>
            </a:r>
            <a:r>
              <a:rPr lang="en-IN" b="1" dirty="0">
                <a:solidFill>
                  <a:srgbClr val="FF0000"/>
                </a:solidFill>
                <a:latin typeface="+mn-lt"/>
              </a:rPr>
              <a:t>2. Distribution of Rating: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67A6EC1-C69B-7A9C-248F-235C933F6BB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99" y="1382486"/>
            <a:ext cx="6683830" cy="5246915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0BD677-6256-D7B6-D87E-0DE8969DE9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12429" y="1382486"/>
            <a:ext cx="5116285" cy="5246915"/>
          </a:xfrm>
        </p:spPr>
        <p:txBody>
          <a:bodyPr>
            <a:normAutofit/>
          </a:bodyPr>
          <a:lstStyle/>
          <a:p>
            <a:r>
              <a:rPr lang="en-US" sz="3200" b="1" dirty="0"/>
              <a:t>Insight:</a:t>
            </a:r>
          </a:p>
          <a:p>
            <a:r>
              <a:rPr lang="en-US" sz="2400" dirty="0">
                <a:latin typeface="Comic Sans MS" panose="030F0702030302020204" pitchFamily="66" charset="0"/>
              </a:rPr>
              <a:t>The content ratings are ranked based on the number of occurrences, from highest to lowest:</a:t>
            </a:r>
          </a:p>
          <a:p>
            <a:endParaRPr lang="en-US" sz="2400" dirty="0">
              <a:latin typeface="Comic Sans MS" panose="030F0702030302020204" pitchFamily="66" charset="0"/>
            </a:endParaRPr>
          </a:p>
          <a:p>
            <a:r>
              <a:rPr lang="en-US" sz="2400" b="1" dirty="0">
                <a:solidFill>
                  <a:srgbClr val="FFFF00"/>
                </a:solidFill>
                <a:latin typeface="Comic Sans MS" panose="030F0702030302020204" pitchFamily="66" charset="0"/>
              </a:rPr>
              <a:t>1.TV-MA</a:t>
            </a:r>
            <a:r>
              <a:rPr lang="en-US" sz="2400" dirty="0">
                <a:solidFill>
                  <a:srgbClr val="FFFF00"/>
                </a:solidFill>
                <a:latin typeface="Comic Sans MS" panose="030F0702030302020204" pitchFamily="66" charset="0"/>
              </a:rPr>
              <a:t> – Most common rating with the highest count.</a:t>
            </a:r>
          </a:p>
          <a:p>
            <a:r>
              <a:rPr lang="en-US" sz="2400" b="1" dirty="0">
                <a:solidFill>
                  <a:srgbClr val="FFFF00"/>
                </a:solidFill>
                <a:latin typeface="Comic Sans MS" panose="030F0702030302020204" pitchFamily="66" charset="0"/>
              </a:rPr>
              <a:t>2.TV-14</a:t>
            </a:r>
            <a:r>
              <a:rPr lang="en-US" sz="2400" dirty="0">
                <a:solidFill>
                  <a:srgbClr val="FFFF00"/>
                </a:solidFill>
                <a:latin typeface="Comic Sans MS" panose="030F0702030302020204" pitchFamily="66" charset="0"/>
              </a:rPr>
              <a:t> – Second most frequent rating.</a:t>
            </a:r>
          </a:p>
          <a:p>
            <a:r>
              <a:rPr lang="en-US" sz="2400" b="1" dirty="0">
                <a:solidFill>
                  <a:srgbClr val="FFFF00"/>
                </a:solidFill>
                <a:latin typeface="Comic Sans MS" panose="030F0702030302020204" pitchFamily="66" charset="0"/>
              </a:rPr>
              <a:t>3.TV-PG</a:t>
            </a:r>
            <a:r>
              <a:rPr lang="en-US" sz="2400" dirty="0">
                <a:solidFill>
                  <a:srgbClr val="FFFF00"/>
                </a:solidFill>
                <a:latin typeface="Comic Sans MS" panose="030F0702030302020204" pitchFamily="66" charset="0"/>
              </a:rPr>
              <a:t> – Third most common rating.</a:t>
            </a:r>
          </a:p>
          <a:p>
            <a:endParaRPr lang="en-IN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41922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8F0A54-7369-6A2F-0470-F921037D1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4625" y="152401"/>
            <a:ext cx="11679917" cy="870856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+mn-lt"/>
              </a:rPr>
              <a:t>3. Distribution of Types: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95399BE-BF72-7A47-40DB-2A4C0DCCDD3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25" y="1295398"/>
            <a:ext cx="5845175" cy="5410201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267A5A-6B63-BDD8-A111-5591D5D0C9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295400"/>
            <a:ext cx="5845174" cy="5268686"/>
          </a:xfrm>
        </p:spPr>
        <p:txBody>
          <a:bodyPr>
            <a:normAutofit fontScale="85000" lnSpcReduction="10000"/>
          </a:bodyPr>
          <a:lstStyle/>
          <a:p>
            <a:r>
              <a:rPr lang="en-US" sz="3800" b="1" dirty="0">
                <a:latin typeface="Comic Sans MS" panose="030F0702030302020204" pitchFamily="66" charset="0"/>
              </a:rPr>
              <a:t>Insight:</a:t>
            </a:r>
          </a:p>
          <a:p>
            <a:endParaRPr lang="en-US" b="1" dirty="0">
              <a:latin typeface="Comic Sans MS" panose="030F0702030302020204" pitchFamily="66" charset="0"/>
            </a:endParaRPr>
          </a:p>
          <a:p>
            <a:r>
              <a:rPr lang="en-US" dirty="0">
                <a:latin typeface="Comic Sans MS" panose="030F0702030302020204" pitchFamily="66" charset="0"/>
              </a:rPr>
              <a:t>Movie Preference Dominates:</a:t>
            </a:r>
            <a:br>
              <a:rPr lang="en-US" dirty="0">
                <a:latin typeface="Comic Sans MS" panose="030F0702030302020204" pitchFamily="66" charset="0"/>
              </a:rPr>
            </a:br>
            <a:r>
              <a:rPr lang="en-US" dirty="0">
                <a:latin typeface="Comic Sans MS" panose="030F0702030302020204" pitchFamily="66" charset="0"/>
              </a:rPr>
              <a:t>A majority of people </a:t>
            </a:r>
            <a:r>
              <a:rPr lang="en-US" dirty="0">
                <a:solidFill>
                  <a:srgbClr val="FFFF00"/>
                </a:solidFill>
                <a:latin typeface="Comic Sans MS" panose="030F0702030302020204" pitchFamily="66" charset="0"/>
              </a:rPr>
              <a:t>(69.7%) prefer watching movies</a:t>
            </a:r>
            <a:r>
              <a:rPr lang="en-US" dirty="0">
                <a:latin typeface="Comic Sans MS" panose="030F0702030302020204" pitchFamily="66" charset="0"/>
              </a:rPr>
              <a:t> over </a:t>
            </a:r>
            <a:r>
              <a:rPr lang="en-US" dirty="0">
                <a:solidFill>
                  <a:srgbClr val="FFFF00"/>
                </a:solidFill>
                <a:latin typeface="Comic Sans MS" panose="030F0702030302020204" pitchFamily="66" charset="0"/>
              </a:rPr>
              <a:t>TV shows (30.3%).</a:t>
            </a:r>
          </a:p>
          <a:p>
            <a:r>
              <a:rPr lang="en-US" dirty="0">
                <a:latin typeface="Comic Sans MS" panose="030F0702030302020204" pitchFamily="66" charset="0"/>
              </a:rPr>
              <a:t>-- </a:t>
            </a:r>
            <a:r>
              <a:rPr 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People prefer movies over TV shows because movies are shorter, offering a complete story in one sitting. – </a:t>
            </a:r>
          </a:p>
          <a:p>
            <a:r>
              <a:rPr lang="en-US" dirty="0">
                <a:latin typeface="Comic Sans MS" panose="030F0702030302020204" pitchFamily="66" charset="0"/>
              </a:rPr>
              <a:t>-- They often have </a:t>
            </a:r>
            <a:r>
              <a:rPr lang="en-US" dirty="0">
                <a:solidFill>
                  <a:srgbClr val="FFFF00"/>
                </a:solidFill>
                <a:latin typeface="Comic Sans MS" panose="030F0702030302020204" pitchFamily="66" charset="0"/>
              </a:rPr>
              <a:t>higher production quality and feel like special events.</a:t>
            </a:r>
          </a:p>
          <a:p>
            <a:r>
              <a:rPr lang="en-US" dirty="0">
                <a:latin typeface="Comic Sans MS" panose="030F0702030302020204" pitchFamily="66" charset="0"/>
              </a:rPr>
              <a:t> -- </a:t>
            </a:r>
            <a:r>
              <a:rPr lang="en-US" dirty="0">
                <a:solidFill>
                  <a:srgbClr val="FFFF00"/>
                </a:solidFill>
                <a:latin typeface="Comic Sans MS" panose="030F0702030302020204" pitchFamily="66" charset="0"/>
              </a:rPr>
              <a:t>Movies are easier to watch without long commitments, while TV shows require following many episodes.</a:t>
            </a:r>
            <a:endParaRPr lang="en-IN" dirty="0">
              <a:solidFill>
                <a:srgbClr val="FFFF0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3637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60E28-15FD-9FF6-B97F-7B77785C8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514" y="130629"/>
            <a:ext cx="11908971" cy="1001485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+mn-lt"/>
              </a:rPr>
              <a:t>4.Top 10 Countries with highest number of Netflix titles:</a:t>
            </a:r>
            <a:endParaRPr lang="en-IN" sz="3600" b="1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78C623A-5926-369C-1A32-F5ABF6A0FD9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514" y="1295400"/>
            <a:ext cx="6901543" cy="5431971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5D9864-5444-9AA4-5D1A-09587B802E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39000" y="1295399"/>
            <a:ext cx="4811485" cy="543197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# INSIGHT:</a:t>
            </a:r>
          </a:p>
          <a:p>
            <a:pPr marL="0" indent="0">
              <a:buNone/>
            </a:pPr>
            <a:r>
              <a:rPr lang="en-US" sz="1600" dirty="0">
                <a:latin typeface="Comic Sans MS" panose="030F0702030302020204" pitchFamily="66" charset="0"/>
              </a:rPr>
              <a:t># The </a:t>
            </a:r>
            <a:r>
              <a:rPr lang="en-US" sz="1600" dirty="0">
                <a:solidFill>
                  <a:srgbClr val="FFFF00"/>
                </a:solidFill>
                <a:latin typeface="Comic Sans MS" panose="030F0702030302020204" pitchFamily="66" charset="0"/>
              </a:rPr>
              <a:t>United States has the highest number of titles at 3,240</a:t>
            </a:r>
            <a:r>
              <a:rPr lang="en-US" sz="1600" dirty="0">
                <a:latin typeface="Comic Sans MS" panose="030F0702030302020204" pitchFamily="66" charset="0"/>
              </a:rPr>
              <a:t>, significantly more than the other countries. </a:t>
            </a:r>
          </a:p>
          <a:p>
            <a:pPr marL="0" indent="0">
              <a:buNone/>
            </a:pPr>
            <a:endParaRPr lang="en-US" sz="16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1600" dirty="0">
                <a:latin typeface="Comic Sans MS" panose="030F0702030302020204" pitchFamily="66" charset="0"/>
              </a:rPr>
              <a:t># </a:t>
            </a:r>
            <a:r>
              <a:rPr lang="en-US" sz="1600" dirty="0">
                <a:solidFill>
                  <a:srgbClr val="FFFF00"/>
                </a:solidFill>
                <a:latin typeface="Comic Sans MS" panose="030F0702030302020204" pitchFamily="66" charset="0"/>
              </a:rPr>
              <a:t>India follows with 1,057 titles, then the United Kingdom with 638, Pakistan with 421, </a:t>
            </a:r>
            <a:r>
              <a:rPr lang="en-US" sz="1600" dirty="0">
                <a:latin typeface="Comic Sans MS" panose="030F0702030302020204" pitchFamily="66" charset="0"/>
              </a:rPr>
              <a:t>and countries like Canada, Japan, South Korea, France, and Spain.</a:t>
            </a:r>
          </a:p>
          <a:p>
            <a:pPr marL="0" indent="0">
              <a:buNone/>
            </a:pPr>
            <a:endParaRPr lang="en-US" sz="16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FFFF00"/>
                </a:solidFill>
                <a:latin typeface="Comic Sans MS" panose="030F0702030302020204" pitchFamily="66" charset="0"/>
              </a:rPr>
              <a:t>1 .The United States has the highest number of Netflix titles because Netflix is based there, the U.S. has the world’s largest film and TV industry</a:t>
            </a:r>
            <a:r>
              <a:rPr lang="en-US" sz="1600" dirty="0">
                <a:latin typeface="Comic Sans MS" panose="030F0702030302020204" pitchFamily="66" charset="0"/>
              </a:rPr>
              <a:t>,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FFFF00"/>
                </a:solidFill>
                <a:latin typeface="Comic Sans MS" panose="030F0702030302020204" pitchFamily="66" charset="0"/>
              </a:rPr>
              <a:t>2 .A large English-speaking audience, and high content demand.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FFFF00"/>
                </a:solidFill>
                <a:latin typeface="Comic Sans MS" panose="030F0702030302020204" pitchFamily="66" charset="0"/>
              </a:rPr>
              <a:t>3.Many Netflix Originals are also produced in the U.S., boosting its </a:t>
            </a:r>
            <a:r>
              <a:rPr lang="en-US" sz="2000" dirty="0">
                <a:solidFill>
                  <a:srgbClr val="FFFF00"/>
                </a:solidFill>
                <a:latin typeface="Comic Sans MS" panose="030F0702030302020204" pitchFamily="66" charset="0"/>
              </a:rPr>
              <a:t>content count</a:t>
            </a:r>
            <a:r>
              <a:rPr lang="en-US" sz="2000" dirty="0">
                <a:latin typeface="Comic Sans MS" panose="030F0702030302020204" pitchFamily="66" charset="0"/>
              </a:rPr>
              <a:t>.</a:t>
            </a:r>
            <a:endParaRPr lang="en-IN" sz="20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33205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D5FA0-F16F-5B40-DC66-DA5AAD2F1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743" y="141515"/>
            <a:ext cx="11887200" cy="126274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+mn-lt"/>
              </a:rPr>
              <a:t>5 Analyze the growth of Movies and TV Shows over the years. </a:t>
            </a:r>
            <a:endParaRPr lang="en-IN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85C439BA-07B4-4EC1-94DA-6EECD6AF34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743" y="1404258"/>
            <a:ext cx="11887200" cy="5312227"/>
          </a:xfrm>
        </p:spPr>
      </p:pic>
    </p:spTree>
    <p:extLst>
      <p:ext uri="{BB962C8B-B14F-4D97-AF65-F5344CB8AC3E}">
        <p14:creationId xmlns:p14="http://schemas.microsoft.com/office/powerpoint/2010/main" val="6551759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6FA99-EDD9-7F7D-9FF8-F8FF27872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1" y="97971"/>
            <a:ext cx="12006942" cy="805543"/>
          </a:xfrm>
        </p:spPr>
        <p:txBody>
          <a:bodyPr>
            <a:normAutofit/>
          </a:bodyPr>
          <a:lstStyle/>
          <a:p>
            <a:r>
              <a:rPr lang="en-US" b="1" dirty="0"/>
              <a:t>   </a:t>
            </a:r>
            <a:r>
              <a:rPr lang="en-US" b="1" dirty="0">
                <a:solidFill>
                  <a:srgbClr val="FF0000"/>
                </a:solidFill>
                <a:latin typeface="+mn-lt"/>
              </a:rPr>
              <a:t>INSIGHT:</a:t>
            </a:r>
            <a:endParaRPr lang="en-IN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B6FD5-426B-8630-16D8-813B60933D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-1" y="903514"/>
            <a:ext cx="6291943" cy="5856515"/>
          </a:xfrm>
        </p:spPr>
        <p:txBody>
          <a:bodyPr>
            <a:noAutofit/>
          </a:bodyPr>
          <a:lstStyle/>
          <a:p>
            <a:r>
              <a:rPr lang="en-US" sz="2000" b="1" dirty="0">
                <a:latin typeface="Comic Sans MS" panose="030F0702030302020204" pitchFamily="66" charset="0"/>
              </a:rPr>
              <a:t>Insight Summary: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mic Sans MS" panose="030F0702030302020204" pitchFamily="66" charset="0"/>
              </a:rPr>
              <a:t>Movies (Blue Line):</a:t>
            </a:r>
            <a:br>
              <a:rPr lang="en-US" sz="2000" dirty="0">
                <a:latin typeface="Comic Sans MS" panose="030F0702030302020204" pitchFamily="66" charset="0"/>
              </a:rPr>
            </a:br>
            <a:r>
              <a:rPr lang="en-US" sz="2000" dirty="0">
                <a:latin typeface="Comic Sans MS" panose="030F0702030302020204" pitchFamily="66" charset="0"/>
              </a:rPr>
              <a:t>Gradual rise till 2015, peak around 2017, then slower but steady growth.</a:t>
            </a:r>
          </a:p>
          <a:p>
            <a:endParaRPr lang="en-US" sz="2000" dirty="0">
              <a:latin typeface="Comic Sans MS" panose="030F0702030302020204" pitchFamily="66" charset="0"/>
            </a:endParaRPr>
          </a:p>
          <a:p>
            <a:r>
              <a:rPr lang="en-US" sz="2000" b="1" dirty="0">
                <a:solidFill>
                  <a:srgbClr val="FFFF00"/>
                </a:solidFill>
                <a:latin typeface="Comic Sans MS" panose="030F0702030302020204" pitchFamily="66" charset="0"/>
              </a:rPr>
              <a:t>TV Shows (Orange Line):</a:t>
            </a:r>
            <a:br>
              <a:rPr lang="en-US" sz="2000" dirty="0">
                <a:latin typeface="Comic Sans MS" panose="030F0702030302020204" pitchFamily="66" charset="0"/>
              </a:rPr>
            </a:br>
            <a:r>
              <a:rPr lang="en-US" sz="2000" dirty="0">
                <a:latin typeface="Comic Sans MS" panose="030F0702030302020204" pitchFamily="66" charset="0"/>
              </a:rPr>
              <a:t>Lower in count initially, sharp rise from 2015, peaking in 2020.</a:t>
            </a:r>
          </a:p>
          <a:p>
            <a:endParaRPr lang="en-US" sz="2000" dirty="0">
              <a:latin typeface="Comic Sans MS" panose="030F0702030302020204" pitchFamily="66" charset="0"/>
            </a:endParaRPr>
          </a:p>
          <a:p>
            <a:r>
              <a:rPr lang="en-US" sz="2000" b="1" dirty="0">
                <a:solidFill>
                  <a:srgbClr val="FFFF00"/>
                </a:solidFill>
                <a:latin typeface="Comic Sans MS" panose="030F0702030302020204" pitchFamily="66" charset="0"/>
              </a:rPr>
              <a:t>Overall Trend (Post-2000):</a:t>
            </a:r>
            <a:br>
              <a:rPr lang="en-US" sz="2000" dirty="0">
                <a:latin typeface="Comic Sans MS" panose="030F0702030302020204" pitchFamily="66" charset="0"/>
              </a:rPr>
            </a:br>
            <a:r>
              <a:rPr lang="en-US" sz="2000" dirty="0">
                <a:latin typeface="Comic Sans MS" panose="030F0702030302020204" pitchFamily="66" charset="0"/>
              </a:rPr>
              <a:t>Both movies and TV shows increased in number, but movies consistently outnumber TV shows.</a:t>
            </a:r>
          </a:p>
          <a:p>
            <a:endParaRPr lang="en-US" sz="2000" dirty="0">
              <a:latin typeface="Comic Sans MS" panose="030F0702030302020204" pitchFamily="66" charset="0"/>
            </a:endParaRPr>
          </a:p>
          <a:p>
            <a:r>
              <a:rPr lang="en-US" sz="2000" b="1" dirty="0">
                <a:solidFill>
                  <a:srgbClr val="FFFF00"/>
                </a:solidFill>
                <a:latin typeface="Comic Sans MS" panose="030F0702030302020204" pitchFamily="66" charset="0"/>
              </a:rPr>
              <a:t>Key Point (2018–2020):</a:t>
            </a:r>
            <a:endParaRPr lang="en-US" sz="2000" dirty="0">
              <a:solidFill>
                <a:srgbClr val="FFFF00"/>
              </a:solidFill>
              <a:latin typeface="Comic Sans MS" panose="030F0702030302020204" pitchFamily="66" charset="0"/>
            </a:endParaRPr>
          </a:p>
          <a:p>
            <a:pPr lvl="1"/>
            <a:r>
              <a:rPr lang="en-US" sz="2000" b="1" dirty="0">
                <a:latin typeface="Comic Sans MS" panose="030F0702030302020204" pitchFamily="66" charset="0"/>
              </a:rPr>
              <a:t>Movies:</a:t>
            </a:r>
            <a:r>
              <a:rPr lang="en-US" sz="2000" dirty="0">
                <a:latin typeface="Comic Sans MS" panose="030F0702030302020204" pitchFamily="66" charset="0"/>
              </a:rPr>
              <a:t> </a:t>
            </a:r>
            <a:r>
              <a:rPr lang="en-US" sz="2000" dirty="0">
                <a:solidFill>
                  <a:srgbClr val="FFFF00"/>
                </a:solidFill>
                <a:latin typeface="Comic Sans MS" panose="030F0702030302020204" pitchFamily="66" charset="0"/>
              </a:rPr>
              <a:t>Sharp decline in releases.</a:t>
            </a:r>
          </a:p>
          <a:p>
            <a:pPr lvl="1"/>
            <a:r>
              <a:rPr lang="en-US" sz="2000" b="1" dirty="0">
                <a:latin typeface="Comic Sans MS" panose="030F0702030302020204" pitchFamily="66" charset="0"/>
              </a:rPr>
              <a:t>TV Shows:</a:t>
            </a:r>
            <a:r>
              <a:rPr lang="en-US" sz="2000" dirty="0">
                <a:latin typeface="Comic Sans MS" panose="030F0702030302020204" pitchFamily="66" charset="0"/>
              </a:rPr>
              <a:t> </a:t>
            </a:r>
            <a:r>
              <a:rPr lang="en-US" sz="2000" dirty="0">
                <a:solidFill>
                  <a:srgbClr val="FFFF00"/>
                </a:solidFill>
                <a:latin typeface="Comic Sans MS" panose="030F0702030302020204" pitchFamily="66" charset="0"/>
              </a:rPr>
              <a:t>Gradual increase in releases.</a:t>
            </a:r>
          </a:p>
          <a:p>
            <a:endParaRPr lang="en-IN" sz="2000" dirty="0">
              <a:latin typeface="Comic Sans MS" panose="030F0702030302020204" pitchFamily="66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4EA190-AE61-D716-9E60-95BE19B77A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8145" y="174172"/>
            <a:ext cx="5714998" cy="6444342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>
                <a:latin typeface="Comic Sans MS" panose="030F0702030302020204" pitchFamily="66" charset="0"/>
              </a:rPr>
              <a:t>Why Are TV Shows Increasing on Netflix After 2018?</a:t>
            </a:r>
          </a:p>
          <a:p>
            <a:endParaRPr lang="en-US" b="1" dirty="0">
              <a:latin typeface="Comic Sans MS" panose="030F0702030302020204" pitchFamily="66" charset="0"/>
            </a:endParaRPr>
          </a:p>
          <a:p>
            <a:r>
              <a:rPr lang="en-US" b="1" dirty="0">
                <a:latin typeface="Comic Sans MS" panose="030F0702030302020204" pitchFamily="66" charset="0"/>
              </a:rPr>
              <a:t>1.Viewer Engagement:</a:t>
            </a:r>
          </a:p>
          <a:p>
            <a:r>
              <a:rPr lang="en-US" dirty="0">
                <a:solidFill>
                  <a:srgbClr val="FFFF00"/>
                </a:solidFill>
                <a:latin typeface="Comic Sans MS" panose="030F0702030302020204" pitchFamily="66" charset="0"/>
              </a:rPr>
              <a:t>TV shows encourage binge-watching and keep viewers coming back.</a:t>
            </a:r>
          </a:p>
          <a:p>
            <a:r>
              <a:rPr lang="en-US" dirty="0">
                <a:solidFill>
                  <a:srgbClr val="FFFF00"/>
                </a:solidFill>
                <a:latin typeface="Comic Sans MS" panose="030F0702030302020204" pitchFamily="66" charset="0"/>
              </a:rPr>
              <a:t>Multiple episodes = more screen time.</a:t>
            </a:r>
          </a:p>
          <a:p>
            <a:r>
              <a:rPr lang="en-US" dirty="0">
                <a:solidFill>
                  <a:srgbClr val="FFFF00"/>
                </a:solidFill>
                <a:latin typeface="Comic Sans MS" panose="030F0702030302020204" pitchFamily="66" charset="0"/>
              </a:rPr>
              <a:t>Viewers build emotional bonds with characters and stories.</a:t>
            </a:r>
          </a:p>
          <a:p>
            <a:endParaRPr lang="en-US" dirty="0">
              <a:solidFill>
                <a:srgbClr val="FFFF00"/>
              </a:solidFill>
              <a:latin typeface="Comic Sans MS" panose="030F0702030302020204" pitchFamily="66" charset="0"/>
            </a:endParaRPr>
          </a:p>
          <a:p>
            <a:r>
              <a:rPr lang="en-US" b="1" dirty="0">
                <a:latin typeface="Comic Sans MS" panose="030F0702030302020204" pitchFamily="66" charset="0"/>
              </a:rPr>
              <a:t>2.Strategy Shift:</a:t>
            </a:r>
          </a:p>
          <a:p>
            <a:r>
              <a:rPr lang="en-US" dirty="0">
                <a:solidFill>
                  <a:srgbClr val="FFFF00"/>
                </a:solidFill>
                <a:latin typeface="Comic Sans MS" panose="030F0702030302020204" pitchFamily="66" charset="0"/>
              </a:rPr>
              <a:t>Netflix now focuses more on original series.</a:t>
            </a:r>
          </a:p>
          <a:p>
            <a:r>
              <a:rPr lang="en-US" dirty="0">
                <a:solidFill>
                  <a:srgbClr val="FFFF00"/>
                </a:solidFill>
                <a:latin typeface="Comic Sans MS" panose="030F0702030302020204" pitchFamily="66" charset="0"/>
              </a:rPr>
              <a:t>Hit shows can run for many seasons.</a:t>
            </a:r>
          </a:p>
          <a:p>
            <a:r>
              <a:rPr lang="en-US" dirty="0">
                <a:solidFill>
                  <a:srgbClr val="FFFF00"/>
                </a:solidFill>
                <a:latin typeface="Comic Sans MS" panose="030F0702030302020204" pitchFamily="66" charset="0"/>
              </a:rPr>
              <a:t>Originals like </a:t>
            </a:r>
            <a:r>
              <a:rPr lang="en-US" i="1" dirty="0">
                <a:solidFill>
                  <a:srgbClr val="FFFF00"/>
                </a:solidFill>
                <a:latin typeface="Comic Sans MS" panose="030F0702030302020204" pitchFamily="66" charset="0"/>
              </a:rPr>
              <a:t>Stranger Things</a:t>
            </a:r>
            <a:r>
              <a:rPr lang="en-US" dirty="0">
                <a:solidFill>
                  <a:srgbClr val="FFFF00"/>
                </a:solidFill>
                <a:latin typeface="Comic Sans MS" panose="030F0702030302020204" pitchFamily="66" charset="0"/>
              </a:rPr>
              <a:t> boost Netflix’s global identity.</a:t>
            </a:r>
          </a:p>
          <a:p>
            <a:endParaRPr lang="en-US" dirty="0">
              <a:solidFill>
                <a:srgbClr val="FFFF00"/>
              </a:solidFill>
              <a:latin typeface="Comic Sans MS" panose="030F0702030302020204" pitchFamily="66" charset="0"/>
            </a:endParaRPr>
          </a:p>
          <a:p>
            <a:r>
              <a:rPr lang="en-US" b="1" dirty="0">
                <a:latin typeface="Comic Sans MS" panose="030F0702030302020204" pitchFamily="66" charset="0"/>
              </a:rPr>
              <a:t>3.Licensing Changes:</a:t>
            </a:r>
          </a:p>
          <a:p>
            <a:r>
              <a:rPr lang="en-US" dirty="0">
                <a:solidFill>
                  <a:srgbClr val="FFFF00"/>
                </a:solidFill>
                <a:latin typeface="Comic Sans MS" panose="030F0702030302020204" pitchFamily="66" charset="0"/>
              </a:rPr>
              <a:t>Other platforms (like Disney+ &amp; HBO Max) took back their movie rights.</a:t>
            </a:r>
          </a:p>
          <a:p>
            <a:r>
              <a:rPr lang="en-US" dirty="0">
                <a:solidFill>
                  <a:srgbClr val="FFFF00"/>
                </a:solidFill>
                <a:latin typeface="Comic Sans MS" panose="030F0702030302020204" pitchFamily="66" charset="0"/>
              </a:rPr>
              <a:t>Netflix has fewer licensed movies now.</a:t>
            </a:r>
          </a:p>
          <a:p>
            <a:r>
              <a:rPr lang="en-US" dirty="0">
                <a:solidFill>
                  <a:srgbClr val="FFFF00"/>
                </a:solidFill>
                <a:latin typeface="Comic Sans MS" panose="030F0702030302020204" pitchFamily="66" charset="0"/>
              </a:rPr>
              <a:t>So, they invest more in making their own shows.</a:t>
            </a:r>
          </a:p>
          <a:p>
            <a:endParaRPr lang="en-IN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06129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A8AD2-A594-8EB1-7457-90458E314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829" y="87088"/>
            <a:ext cx="11473542" cy="979712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+mn-lt"/>
              </a:rPr>
              <a:t>6.Most Watched Genre</a:t>
            </a:r>
            <a:endParaRPr lang="en-IN" b="1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BCF3CBC-BDA4-070F-66C6-7DD8920A014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6199" y="1306286"/>
            <a:ext cx="7184571" cy="5464627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18D7D8-491B-2ED3-4890-6A5973208E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65570" y="1306286"/>
            <a:ext cx="4386943" cy="546462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INSIGHT:</a:t>
            </a:r>
          </a:p>
          <a:p>
            <a:r>
              <a:rPr lang="en-US" sz="2400" dirty="0">
                <a:latin typeface="Comic Sans MS" panose="030F0702030302020204" pitchFamily="66" charset="0"/>
              </a:rPr>
              <a:t>1. For movies:</a:t>
            </a:r>
          </a:p>
          <a:p>
            <a:r>
              <a:rPr lang="en-US" sz="2400" dirty="0">
                <a:solidFill>
                  <a:srgbClr val="FFFF00"/>
                </a:solidFill>
                <a:latin typeface="Comic Sans MS" panose="030F0702030302020204" pitchFamily="66" charset="0"/>
              </a:rPr>
              <a:t>1.International movies is the most watched Genre </a:t>
            </a:r>
            <a:r>
              <a:rPr lang="en-US" sz="2400" dirty="0">
                <a:latin typeface="Comic Sans MS" panose="030F0702030302020204" pitchFamily="66" charset="0"/>
              </a:rPr>
              <a:t>among all in Type movie followed by Dramas and Comedies.</a:t>
            </a:r>
          </a:p>
          <a:p>
            <a:r>
              <a:rPr lang="en-US" sz="2400" dirty="0">
                <a:latin typeface="Comic Sans MS" panose="030F0702030302020204" pitchFamily="66" charset="0"/>
              </a:rPr>
              <a:t>2.For Tv Shows:</a:t>
            </a:r>
          </a:p>
          <a:p>
            <a:r>
              <a:rPr lang="en-US" sz="2400" dirty="0">
                <a:solidFill>
                  <a:srgbClr val="FFFF00"/>
                </a:solidFill>
                <a:latin typeface="Comic Sans MS" panose="030F0702030302020204" pitchFamily="66" charset="0"/>
              </a:rPr>
              <a:t>.International Tv Shows is the most watched Genre among all in Type Tv shows </a:t>
            </a:r>
            <a:r>
              <a:rPr lang="en-US" sz="2400" dirty="0">
                <a:latin typeface="Comic Sans MS" panose="030F0702030302020204" pitchFamily="66" charset="0"/>
              </a:rPr>
              <a:t>followed by Tv Dramas and Tv Comedies</a:t>
            </a:r>
          </a:p>
          <a:p>
            <a:endParaRPr lang="en-IN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81789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D9209-A074-2AD4-6691-E61A733C8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914" y="97972"/>
            <a:ext cx="11059886" cy="1306286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+mn-lt"/>
              </a:rPr>
              <a:t>7.Distribution of Duration of Movies</a:t>
            </a:r>
            <a:endParaRPr lang="en-IN" b="1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A3263D3-A9BF-CAD6-B87A-1A5C841003A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52400" y="1404257"/>
            <a:ext cx="7032171" cy="5203372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F4909A-1C28-4127-DBF8-CFCFAB701A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34942" y="1404257"/>
            <a:ext cx="4604658" cy="5203372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Insights:</a:t>
            </a:r>
          </a:p>
          <a:p>
            <a:endParaRPr lang="en-US" dirty="0">
              <a:latin typeface="Comic Sans MS" panose="030F0702030302020204" pitchFamily="66" charset="0"/>
            </a:endParaRPr>
          </a:p>
          <a:p>
            <a:r>
              <a:rPr lang="en-US" dirty="0">
                <a:latin typeface="Comic Sans MS" panose="030F0702030302020204" pitchFamily="66" charset="0"/>
              </a:rPr>
              <a:t>1.There are </a:t>
            </a:r>
            <a:r>
              <a:rPr lang="en-US" dirty="0">
                <a:solidFill>
                  <a:srgbClr val="FFFF00"/>
                </a:solidFill>
                <a:latin typeface="Comic Sans MS" panose="030F0702030302020204" pitchFamily="66" charset="0"/>
              </a:rPr>
              <a:t>more than 1476 movies whose duration is between 90 to 100 min.</a:t>
            </a:r>
          </a:p>
          <a:p>
            <a:r>
              <a:rPr lang="en-US" dirty="0">
                <a:latin typeface="Comic Sans MS" panose="030F0702030302020204" pitchFamily="66" charset="0"/>
              </a:rPr>
              <a:t>2.There are </a:t>
            </a:r>
            <a:r>
              <a:rPr lang="en-US" dirty="0">
                <a:solidFill>
                  <a:srgbClr val="FFFF00"/>
                </a:solidFill>
                <a:latin typeface="Comic Sans MS" panose="030F0702030302020204" pitchFamily="66" charset="0"/>
              </a:rPr>
              <a:t>3 movies with the shortest duration 1 minute:</a:t>
            </a:r>
          </a:p>
          <a:p>
            <a:r>
              <a:rPr lang="en-US" dirty="0">
                <a:latin typeface="Comic Sans MS" panose="030F0702030302020204" pitchFamily="66" charset="0"/>
              </a:rPr>
              <a:t>3.There is </a:t>
            </a:r>
            <a:r>
              <a:rPr lang="en-US" dirty="0">
                <a:solidFill>
                  <a:srgbClr val="FFFF00"/>
                </a:solidFill>
                <a:latin typeface="Comic Sans MS" panose="030F0702030302020204" pitchFamily="66" charset="0"/>
              </a:rPr>
              <a:t>only 1 movie with the highest duration 312 minutes:</a:t>
            </a:r>
          </a:p>
          <a:p>
            <a:endParaRPr lang="en-US" dirty="0">
              <a:latin typeface="Comic Sans MS" panose="030F0702030302020204" pitchFamily="66" charset="0"/>
            </a:endParaRPr>
          </a:p>
          <a:p>
            <a:r>
              <a:rPr lang="en-US" dirty="0">
                <a:latin typeface="Comic Sans MS" panose="030F0702030302020204" pitchFamily="66" charset="0"/>
              </a:rPr>
              <a:t>-- </a:t>
            </a:r>
            <a:r>
              <a:rPr lang="en-US" dirty="0">
                <a:solidFill>
                  <a:srgbClr val="FFFF00"/>
                </a:solidFill>
                <a:latin typeface="Comic Sans MS" panose="030F0702030302020204" pitchFamily="66" charset="0"/>
              </a:rPr>
              <a:t>Movie with the highest duration is Black Mirror: Bandersnatch whose duration is 312 minutes</a:t>
            </a:r>
            <a:r>
              <a:rPr lang="en-US" dirty="0">
                <a:latin typeface="Comic Sans MS" panose="030F0702030302020204" pitchFamily="66" charset="0"/>
              </a:rPr>
              <a:t>.</a:t>
            </a:r>
          </a:p>
          <a:p>
            <a:endParaRPr lang="en-IN" dirty="0">
              <a:latin typeface="Comic Sans MS" panose="030F0702030302020204" pitchFamily="66" charset="0"/>
            </a:endParaRPr>
          </a:p>
          <a:p>
            <a:endParaRPr lang="en-IN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47591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ED4F4-E2FB-FD86-EB3A-F23B5EB49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029" y="283029"/>
            <a:ext cx="11669485" cy="87085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  <a:latin typeface="+mn-lt"/>
              </a:rPr>
              <a:t>8.Distribution of Duration of Tv Shows(in seasons)</a:t>
            </a:r>
            <a:endParaRPr lang="en-IN" b="1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3229471-28BB-41D9-7423-13FBE7B8097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7971" y="1415144"/>
            <a:ext cx="6857999" cy="5159827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F69BBA-0AFC-1488-8B3B-BC20BE178E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38999" y="1589314"/>
            <a:ext cx="4855029" cy="4637315"/>
          </a:xfrm>
        </p:spPr>
        <p:txBody>
          <a:bodyPr>
            <a:normAutofit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Insights:</a:t>
            </a:r>
          </a:p>
          <a:p>
            <a:endParaRPr lang="en-US" dirty="0">
              <a:latin typeface="Comic Sans MS" panose="030F0702030302020204" pitchFamily="66" charset="0"/>
            </a:endParaRPr>
          </a:p>
          <a:p>
            <a:r>
              <a:rPr lang="en-US" dirty="0">
                <a:latin typeface="Comic Sans MS" panose="030F0702030302020204" pitchFamily="66" charset="0"/>
              </a:rPr>
              <a:t>1.There are </a:t>
            </a:r>
            <a:r>
              <a:rPr lang="en-US" dirty="0">
                <a:solidFill>
                  <a:srgbClr val="FFFF00"/>
                </a:solidFill>
                <a:latin typeface="Comic Sans MS" panose="030F0702030302020204" pitchFamily="66" charset="0"/>
              </a:rPr>
              <a:t>highest(1793 tv shows) with 1 season:</a:t>
            </a:r>
          </a:p>
          <a:p>
            <a:endParaRPr lang="en-US" dirty="0">
              <a:latin typeface="Comic Sans MS" panose="030F0702030302020204" pitchFamily="66" charset="0"/>
            </a:endParaRPr>
          </a:p>
          <a:p>
            <a:r>
              <a:rPr lang="en-US" dirty="0">
                <a:latin typeface="Comic Sans MS" panose="030F0702030302020204" pitchFamily="66" charset="0"/>
              </a:rPr>
              <a:t>2.There is </a:t>
            </a:r>
            <a:r>
              <a:rPr lang="en-US" dirty="0">
                <a:solidFill>
                  <a:srgbClr val="FFFF00"/>
                </a:solidFill>
                <a:latin typeface="Comic Sans MS" panose="030F0702030302020204" pitchFamily="66" charset="0"/>
              </a:rPr>
              <a:t>only 1 Tv show( Grey's Anatomy) with 17 season:</a:t>
            </a:r>
          </a:p>
          <a:p>
            <a:endParaRPr lang="en-US" dirty="0">
              <a:solidFill>
                <a:srgbClr val="FFFF00"/>
              </a:solidFill>
              <a:latin typeface="Comic Sans MS" panose="030F0702030302020204" pitchFamily="66" charset="0"/>
            </a:endParaRPr>
          </a:p>
          <a:p>
            <a:endParaRPr lang="en-IN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82768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2D55C-7829-8DB3-6396-FA7C49A9A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056" y="370114"/>
            <a:ext cx="11854544" cy="1055915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9. Distribution of content across different category:</a:t>
            </a:r>
            <a:br>
              <a:rPr lang="en-US" sz="4000" b="1" dirty="0">
                <a:latin typeface="Comic Sans MS" panose="030F0702030302020204" pitchFamily="66" charset="0"/>
              </a:rPr>
            </a:br>
            <a:endParaRPr lang="en-IN" sz="4000" b="1" dirty="0">
              <a:latin typeface="Comic Sans MS" panose="030F0702030302020204" pitchFamily="66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9EFE27A-EE6C-F53E-D0BB-987FDFFD203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6200" y="1230086"/>
            <a:ext cx="7271657" cy="548640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AA602A-A827-9D4C-2C83-1D3B643294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63543" y="1230086"/>
            <a:ext cx="4343399" cy="5388428"/>
          </a:xfrm>
        </p:spPr>
        <p:txBody>
          <a:bodyPr/>
          <a:lstStyle/>
          <a:p>
            <a:r>
              <a:rPr lang="en-US" sz="4000" dirty="0">
                <a:latin typeface="Comic Sans MS" panose="030F0702030302020204" pitchFamily="66" charset="0"/>
              </a:rPr>
              <a:t>Insight:</a:t>
            </a:r>
          </a:p>
          <a:p>
            <a:endParaRPr lang="en-US" dirty="0">
              <a:latin typeface="Comic Sans MS" panose="030F0702030302020204" pitchFamily="66" charset="0"/>
            </a:endParaRPr>
          </a:p>
          <a:p>
            <a:r>
              <a:rPr lang="en-US" dirty="0">
                <a:solidFill>
                  <a:srgbClr val="FFFF00"/>
                </a:solidFill>
                <a:latin typeface="Comic Sans MS" panose="030F0702030302020204" pitchFamily="66" charset="0"/>
              </a:rPr>
              <a:t>1.The category with the highest number of titles is "TV-MA" with 3,205 titles</a:t>
            </a:r>
            <a:r>
              <a:rPr lang="en-US" dirty="0">
                <a:latin typeface="Comic Sans MS" panose="030F0702030302020204" pitchFamily="66" charset="0"/>
              </a:rPr>
              <a:t>.</a:t>
            </a:r>
          </a:p>
          <a:p>
            <a:endParaRPr lang="en-US" dirty="0">
              <a:latin typeface="Comic Sans MS" panose="030F0702030302020204" pitchFamily="66" charset="0"/>
            </a:endParaRPr>
          </a:p>
          <a:p>
            <a:r>
              <a:rPr lang="en-US" dirty="0">
                <a:solidFill>
                  <a:srgbClr val="FFFF00"/>
                </a:solidFill>
                <a:latin typeface="Comic Sans MS" panose="030F0702030302020204" pitchFamily="66" charset="0"/>
              </a:rPr>
              <a:t>2.Other notable categories include "TV-14" (2,157 titles) and "R" (861 titles).</a:t>
            </a:r>
          </a:p>
          <a:p>
            <a:endParaRPr lang="en-IN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3754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C16C0-E748-99B9-46BB-2D5F6D1CC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286" y="130630"/>
            <a:ext cx="11876314" cy="968827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+mn-lt"/>
              </a:rPr>
              <a:t>10.Distribution of Netflix Content over Month:</a:t>
            </a:r>
            <a:endParaRPr lang="en-IN" b="1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4A44793-015F-D862-098E-2407F2264F6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52400" y="1328058"/>
            <a:ext cx="7826829" cy="5399312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C572B4-66FE-2F2A-08EA-FBEFB87397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175171" y="1251857"/>
            <a:ext cx="3864429" cy="5475513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>
                <a:latin typeface="Comic Sans MS" panose="030F0702030302020204" pitchFamily="66" charset="0"/>
              </a:rPr>
              <a:t>Movies:</a:t>
            </a:r>
          </a:p>
          <a:p>
            <a:r>
              <a:rPr lang="en-US" b="1" dirty="0">
                <a:solidFill>
                  <a:srgbClr val="FFFF00"/>
                </a:solidFill>
                <a:latin typeface="Comic Sans MS" panose="030F0702030302020204" pitchFamily="66" charset="0"/>
              </a:rPr>
              <a:t>July</a:t>
            </a:r>
            <a:r>
              <a:rPr lang="en-US" dirty="0">
                <a:solidFill>
                  <a:srgbClr val="FFFF00"/>
                </a:solidFill>
                <a:latin typeface="Comic Sans MS" panose="030F0702030302020204" pitchFamily="66" charset="0"/>
              </a:rPr>
              <a:t> has the </a:t>
            </a:r>
            <a:r>
              <a:rPr lang="en-US" b="1" dirty="0">
                <a:solidFill>
                  <a:srgbClr val="FFFF00"/>
                </a:solidFill>
                <a:latin typeface="Comic Sans MS" panose="030F0702030302020204" pitchFamily="66" charset="0"/>
              </a:rPr>
              <a:t>highest number of movies added</a:t>
            </a:r>
            <a:r>
              <a:rPr lang="en-US" dirty="0">
                <a:solidFill>
                  <a:srgbClr val="FFFF00"/>
                </a:solidFill>
                <a:latin typeface="Comic Sans MS" panose="030F0702030302020204" pitchFamily="66" charset="0"/>
              </a:rPr>
              <a:t> – a total of </a:t>
            </a:r>
            <a:r>
              <a:rPr lang="en-US" b="1" dirty="0">
                <a:solidFill>
                  <a:srgbClr val="FFFF00"/>
                </a:solidFill>
                <a:latin typeface="Comic Sans MS" panose="030F0702030302020204" pitchFamily="66" charset="0"/>
              </a:rPr>
              <a:t>565</a:t>
            </a:r>
            <a:r>
              <a:rPr lang="en-US" dirty="0">
                <a:solidFill>
                  <a:srgbClr val="FFFF00"/>
                </a:solidFill>
                <a:latin typeface="Comic Sans MS" panose="030F0702030302020204" pitchFamily="66" charset="0"/>
              </a:rPr>
              <a:t> movies</a:t>
            </a:r>
          </a:p>
          <a:p>
            <a:r>
              <a:rPr lang="en-US" dirty="0">
                <a:latin typeface="Comic Sans MS" panose="030F0702030302020204" pitchFamily="66" charset="0"/>
              </a:rPr>
              <a:t>Followed by </a:t>
            </a:r>
            <a:r>
              <a:rPr lang="en-US" b="1" dirty="0">
                <a:latin typeface="Comic Sans MS" panose="030F0702030302020204" pitchFamily="66" charset="0"/>
              </a:rPr>
              <a:t>April</a:t>
            </a:r>
            <a:r>
              <a:rPr lang="en-US" dirty="0">
                <a:latin typeface="Comic Sans MS" panose="030F0702030302020204" pitchFamily="66" charset="0"/>
              </a:rPr>
              <a:t> and </a:t>
            </a:r>
            <a:r>
              <a:rPr lang="en-US" b="1" dirty="0">
                <a:latin typeface="Comic Sans MS" panose="030F0702030302020204" pitchFamily="66" charset="0"/>
              </a:rPr>
              <a:t>December</a:t>
            </a:r>
            <a:endParaRPr lang="en-US" dirty="0">
              <a:latin typeface="Comic Sans MS" panose="030F0702030302020204" pitchFamily="66" charset="0"/>
            </a:endParaRPr>
          </a:p>
          <a:p>
            <a:r>
              <a:rPr lang="en-US" b="1" dirty="0">
                <a:solidFill>
                  <a:srgbClr val="FFFF00"/>
                </a:solidFill>
                <a:latin typeface="Comic Sans MS" panose="030F0702030302020204" pitchFamily="66" charset="0"/>
              </a:rPr>
              <a:t>February</a:t>
            </a:r>
            <a:r>
              <a:rPr lang="en-US" dirty="0">
                <a:solidFill>
                  <a:srgbClr val="FFFF00"/>
                </a:solidFill>
                <a:latin typeface="Comic Sans MS" panose="030F0702030302020204" pitchFamily="66" charset="0"/>
              </a:rPr>
              <a:t> has the </a:t>
            </a:r>
            <a:r>
              <a:rPr lang="en-US" b="1" dirty="0">
                <a:solidFill>
                  <a:srgbClr val="FFFF00"/>
                </a:solidFill>
                <a:latin typeface="Comic Sans MS" panose="030F0702030302020204" pitchFamily="66" charset="0"/>
              </a:rPr>
              <a:t>lowest</a:t>
            </a:r>
            <a:r>
              <a:rPr lang="en-US" dirty="0">
                <a:solidFill>
                  <a:srgbClr val="FFFF00"/>
                </a:solidFill>
                <a:latin typeface="Comic Sans MS" panose="030F0702030302020204" pitchFamily="66" charset="0"/>
              </a:rPr>
              <a:t> number of movies added – only </a:t>
            </a:r>
            <a:r>
              <a:rPr lang="en-US" b="1" dirty="0">
                <a:solidFill>
                  <a:srgbClr val="FFFF00"/>
                </a:solidFill>
                <a:latin typeface="Comic Sans MS" panose="030F0702030302020204" pitchFamily="66" charset="0"/>
              </a:rPr>
              <a:t>382</a:t>
            </a:r>
            <a:r>
              <a:rPr lang="en-US" dirty="0">
                <a:solidFill>
                  <a:srgbClr val="FFFF00"/>
                </a:solidFill>
                <a:latin typeface="Comic Sans MS" panose="030F0702030302020204" pitchFamily="66" charset="0"/>
              </a:rPr>
              <a:t> movies</a:t>
            </a:r>
          </a:p>
          <a:p>
            <a:endParaRPr lang="en-US" dirty="0">
              <a:latin typeface="Comic Sans MS" panose="030F0702030302020204" pitchFamily="66" charset="0"/>
            </a:endParaRPr>
          </a:p>
          <a:p>
            <a:r>
              <a:rPr lang="en-US" b="1" dirty="0">
                <a:latin typeface="Comic Sans MS" panose="030F0702030302020204" pitchFamily="66" charset="0"/>
              </a:rPr>
              <a:t>TV Shows:</a:t>
            </a:r>
          </a:p>
          <a:p>
            <a:r>
              <a:rPr lang="en-US" b="1" dirty="0">
                <a:latin typeface="Comic Sans MS" panose="030F0702030302020204" pitchFamily="66" charset="0"/>
              </a:rPr>
              <a:t>D</a:t>
            </a:r>
            <a:r>
              <a:rPr lang="en-US" b="1" dirty="0">
                <a:solidFill>
                  <a:srgbClr val="FFFF00"/>
                </a:solidFill>
                <a:latin typeface="Comic Sans MS" panose="030F0702030302020204" pitchFamily="66" charset="0"/>
              </a:rPr>
              <a:t>ecember</a:t>
            </a:r>
            <a:r>
              <a:rPr lang="en-US" dirty="0">
                <a:solidFill>
                  <a:srgbClr val="FFFF00"/>
                </a:solidFill>
                <a:latin typeface="Comic Sans MS" panose="030F0702030302020204" pitchFamily="66" charset="0"/>
              </a:rPr>
              <a:t> sees the </a:t>
            </a:r>
            <a:r>
              <a:rPr lang="en-US" b="1" dirty="0">
                <a:solidFill>
                  <a:srgbClr val="FFFF00"/>
                </a:solidFill>
                <a:latin typeface="Comic Sans MS" panose="030F0702030302020204" pitchFamily="66" charset="0"/>
              </a:rPr>
              <a:t>highest number of TV shows added</a:t>
            </a:r>
            <a:r>
              <a:rPr lang="en-US" dirty="0">
                <a:solidFill>
                  <a:srgbClr val="FFFF00"/>
                </a:solidFill>
                <a:latin typeface="Comic Sans MS" panose="030F0702030302020204" pitchFamily="66" charset="0"/>
              </a:rPr>
              <a:t> – </a:t>
            </a:r>
            <a:r>
              <a:rPr lang="en-US" b="1" dirty="0">
                <a:solidFill>
                  <a:srgbClr val="FFFF00"/>
                </a:solidFill>
                <a:latin typeface="Comic Sans MS" panose="030F0702030302020204" pitchFamily="66" charset="0"/>
              </a:rPr>
              <a:t>265</a:t>
            </a:r>
            <a:r>
              <a:rPr lang="en-US" dirty="0">
                <a:solidFill>
                  <a:srgbClr val="FFFF00"/>
                </a:solidFill>
                <a:latin typeface="Comic Sans MS" panose="030F0702030302020204" pitchFamily="66" charset="0"/>
              </a:rPr>
              <a:t> in total</a:t>
            </a:r>
          </a:p>
          <a:p>
            <a:r>
              <a:rPr lang="en-US" dirty="0">
                <a:latin typeface="Comic Sans MS" panose="030F0702030302020204" pitchFamily="66" charset="0"/>
              </a:rPr>
              <a:t>Followed by </a:t>
            </a:r>
            <a:r>
              <a:rPr lang="en-US" b="1" dirty="0">
                <a:latin typeface="Comic Sans MS" panose="030F0702030302020204" pitchFamily="66" charset="0"/>
              </a:rPr>
              <a:t>July</a:t>
            </a:r>
            <a:r>
              <a:rPr lang="en-US" dirty="0">
                <a:latin typeface="Comic Sans MS" panose="030F0702030302020204" pitchFamily="66" charset="0"/>
              </a:rPr>
              <a:t> and </a:t>
            </a:r>
            <a:r>
              <a:rPr lang="en-US" b="1" dirty="0">
                <a:latin typeface="Comic Sans MS" panose="030F0702030302020204" pitchFamily="66" charset="0"/>
              </a:rPr>
              <a:t>September</a:t>
            </a:r>
            <a:endParaRPr lang="en-US" dirty="0">
              <a:latin typeface="Comic Sans MS" panose="030F0702030302020204" pitchFamily="66" charset="0"/>
            </a:endParaRPr>
          </a:p>
          <a:p>
            <a:r>
              <a:rPr lang="en-US" b="1" dirty="0">
                <a:solidFill>
                  <a:srgbClr val="FFFF00"/>
                </a:solidFill>
                <a:latin typeface="Comic Sans MS" panose="030F0702030302020204" pitchFamily="66" charset="0"/>
              </a:rPr>
              <a:t>February</a:t>
            </a:r>
            <a:r>
              <a:rPr lang="en-US" dirty="0">
                <a:solidFill>
                  <a:srgbClr val="FFFF00"/>
                </a:solidFill>
                <a:latin typeface="Comic Sans MS" panose="030F0702030302020204" pitchFamily="66" charset="0"/>
              </a:rPr>
              <a:t> again has the </a:t>
            </a:r>
            <a:r>
              <a:rPr lang="en-US" b="1" dirty="0">
                <a:solidFill>
                  <a:srgbClr val="FFFF00"/>
                </a:solidFill>
                <a:latin typeface="Comic Sans MS" panose="030F0702030302020204" pitchFamily="66" charset="0"/>
              </a:rPr>
              <a:t>lowest</a:t>
            </a:r>
            <a:r>
              <a:rPr lang="en-US" dirty="0">
                <a:solidFill>
                  <a:srgbClr val="FFFF00"/>
                </a:solidFill>
                <a:latin typeface="Comic Sans MS" panose="030F0702030302020204" pitchFamily="66" charset="0"/>
              </a:rPr>
              <a:t> number of TV shows added</a:t>
            </a:r>
          </a:p>
          <a:p>
            <a:endParaRPr lang="en-IN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16535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3B955-69E7-8FF7-4D6D-6BCB2D8B2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514" y="365126"/>
            <a:ext cx="11212286" cy="832304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+mn-lt"/>
              </a:rPr>
              <a:t>11. Distribution of Netflix content over quarter</a:t>
            </a:r>
            <a:endParaRPr lang="en-IN" b="1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64BA722-A100-03D8-1ED7-12EE585F662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41514" y="1513114"/>
            <a:ext cx="8186057" cy="525780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4FE629-472E-FB0B-90F0-542CAC21D1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90856" y="1513114"/>
            <a:ext cx="3559630" cy="5094515"/>
          </a:xfrm>
        </p:spPr>
        <p:txBody>
          <a:bodyPr>
            <a:normAutofit fontScale="85000" lnSpcReduction="20000"/>
          </a:bodyPr>
          <a:lstStyle/>
          <a:p>
            <a:r>
              <a:rPr lang="en-US" sz="3300" dirty="0">
                <a:latin typeface="Comic Sans MS" panose="030F0702030302020204" pitchFamily="66" charset="0"/>
              </a:rPr>
              <a:t>Insight:</a:t>
            </a:r>
          </a:p>
          <a:p>
            <a:endParaRPr lang="en-US" dirty="0">
              <a:latin typeface="Comic Sans MS" panose="030F0702030302020204" pitchFamily="66" charset="0"/>
            </a:endParaRPr>
          </a:p>
          <a:p>
            <a:r>
              <a:rPr lang="en-US" dirty="0">
                <a:latin typeface="Comic Sans MS" panose="030F0702030302020204" pitchFamily="66" charset="0"/>
              </a:rPr>
              <a:t>1 .</a:t>
            </a:r>
            <a:r>
              <a:rPr lang="en-US" dirty="0">
                <a:solidFill>
                  <a:srgbClr val="FFFF00"/>
                </a:solidFill>
                <a:latin typeface="Comic Sans MS" panose="030F0702030302020204" pitchFamily="66" charset="0"/>
              </a:rPr>
              <a:t>Highest</a:t>
            </a:r>
            <a:r>
              <a:rPr lang="en-US" dirty="0">
                <a:latin typeface="Comic Sans MS" panose="030F0702030302020204" pitchFamily="66" charset="0"/>
              </a:rPr>
              <a:t> number of content was released in </a:t>
            </a:r>
            <a:r>
              <a:rPr lang="en-US" dirty="0">
                <a:solidFill>
                  <a:srgbClr val="FFFF00"/>
                </a:solidFill>
                <a:latin typeface="Comic Sans MS" panose="030F0702030302020204" pitchFamily="66" charset="0"/>
              </a:rPr>
              <a:t>3rd quarter:</a:t>
            </a:r>
          </a:p>
          <a:p>
            <a:r>
              <a:rPr lang="en-US" dirty="0">
                <a:solidFill>
                  <a:srgbClr val="FFFF00"/>
                </a:solidFill>
                <a:latin typeface="Comic Sans MS" panose="030F0702030302020204" pitchFamily="66" charset="0"/>
              </a:rPr>
              <a:t>Movies = 1601 titles</a:t>
            </a:r>
          </a:p>
          <a:p>
            <a:r>
              <a:rPr lang="en-US" dirty="0">
                <a:solidFill>
                  <a:srgbClr val="FFFF00"/>
                </a:solidFill>
                <a:latin typeface="Comic Sans MS" panose="030F0702030302020204" pitchFamily="66" charset="0"/>
              </a:rPr>
              <a:t>Tv Shows = 749</a:t>
            </a:r>
          </a:p>
          <a:p>
            <a:endParaRPr lang="en-US" dirty="0">
              <a:latin typeface="Comic Sans MS" panose="030F0702030302020204" pitchFamily="66" charset="0"/>
            </a:endParaRPr>
          </a:p>
          <a:p>
            <a:r>
              <a:rPr lang="en-US" dirty="0">
                <a:latin typeface="Comic Sans MS" panose="030F0702030302020204" pitchFamily="66" charset="0"/>
              </a:rPr>
              <a:t>2</a:t>
            </a:r>
            <a:r>
              <a:rPr lang="en-US" dirty="0">
                <a:solidFill>
                  <a:srgbClr val="FFFF00"/>
                </a:solidFill>
                <a:latin typeface="Comic Sans MS" panose="030F0702030302020204" pitchFamily="66" charset="0"/>
              </a:rPr>
              <a:t>.Lowest </a:t>
            </a:r>
            <a:r>
              <a:rPr lang="en-US" dirty="0">
                <a:latin typeface="Comic Sans MS" panose="030F0702030302020204" pitchFamily="66" charset="0"/>
              </a:rPr>
              <a:t>content was released in </a:t>
            </a:r>
            <a:r>
              <a:rPr lang="en-US" dirty="0">
                <a:solidFill>
                  <a:srgbClr val="FFFF00"/>
                </a:solidFill>
                <a:latin typeface="Comic Sans MS" panose="030F0702030302020204" pitchFamily="66" charset="0"/>
              </a:rPr>
              <a:t>1st quarter:</a:t>
            </a:r>
          </a:p>
          <a:p>
            <a:r>
              <a:rPr lang="en-US" dirty="0">
                <a:solidFill>
                  <a:srgbClr val="FFFF00"/>
                </a:solidFill>
                <a:latin typeface="Comic Sans MS" panose="030F0702030302020204" pitchFamily="66" charset="0"/>
              </a:rPr>
              <a:t>1 .Movies = 1455 titles</a:t>
            </a:r>
          </a:p>
          <a:p>
            <a:r>
              <a:rPr lang="en-US" dirty="0">
                <a:solidFill>
                  <a:srgbClr val="FFFF00"/>
                </a:solidFill>
                <a:latin typeface="Comic Sans MS" panose="030F0702030302020204" pitchFamily="66" charset="0"/>
              </a:rPr>
              <a:t>2 .Tv Shows = 585</a:t>
            </a:r>
          </a:p>
          <a:p>
            <a:endParaRPr lang="en-IN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9347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CFF0A-EC81-32DB-A22D-C893362EB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943" y="174171"/>
            <a:ext cx="11843657" cy="816429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+mn-lt"/>
              </a:rPr>
              <a:t>12 . Distribution of Netflix Content over weeks</a:t>
            </a:r>
            <a:endParaRPr lang="en-IN" b="1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D060C1A-580D-9CFF-0551-0B87CEF4940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8425" y="1295400"/>
            <a:ext cx="7728404" cy="548640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94C1A4-9CCB-C33D-AD7D-5582BA379D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68342" y="1371600"/>
            <a:ext cx="4071257" cy="5312227"/>
          </a:xfrm>
        </p:spPr>
        <p:txBody>
          <a:bodyPr>
            <a:normAutofit fontScale="92500" lnSpcReduction="10000"/>
          </a:bodyPr>
          <a:lstStyle/>
          <a:p>
            <a:r>
              <a:rPr lang="en-US" sz="3200" dirty="0">
                <a:latin typeface="Comic Sans MS" panose="030F0702030302020204" pitchFamily="66" charset="0"/>
              </a:rPr>
              <a:t>Insight:</a:t>
            </a:r>
          </a:p>
          <a:p>
            <a:endParaRPr lang="en-US" dirty="0">
              <a:latin typeface="Comic Sans MS" panose="030F0702030302020204" pitchFamily="66" charset="0"/>
            </a:endParaRPr>
          </a:p>
          <a:p>
            <a:r>
              <a:rPr lang="en-US" dirty="0">
                <a:latin typeface="Comic Sans MS" panose="030F0702030302020204" pitchFamily="66" charset="0"/>
              </a:rPr>
              <a:t>The </a:t>
            </a:r>
            <a:r>
              <a:rPr lang="en-US" dirty="0">
                <a:solidFill>
                  <a:srgbClr val="FFFF00"/>
                </a:solidFill>
                <a:latin typeface="Comic Sans MS" panose="030F0702030302020204" pitchFamily="66" charset="0"/>
              </a:rPr>
              <a:t>highest</a:t>
            </a:r>
            <a:r>
              <a:rPr lang="en-US" dirty="0">
                <a:latin typeface="Comic Sans MS" panose="030F0702030302020204" pitchFamily="66" charset="0"/>
              </a:rPr>
              <a:t> number of content added to Netflix is </a:t>
            </a:r>
            <a:r>
              <a:rPr lang="en-US" dirty="0">
                <a:solidFill>
                  <a:srgbClr val="FFFF00"/>
                </a:solidFill>
                <a:latin typeface="Comic Sans MS" panose="030F0702030302020204" pitchFamily="66" charset="0"/>
              </a:rPr>
              <a:t>on Friday ( for both movies(1565) and tv show(932))</a:t>
            </a:r>
          </a:p>
          <a:p>
            <a:endParaRPr lang="en-US" dirty="0">
              <a:latin typeface="Comic Sans MS" panose="030F0702030302020204" pitchFamily="66" charset="0"/>
            </a:endParaRPr>
          </a:p>
          <a:p>
            <a:r>
              <a:rPr lang="en-US" dirty="0">
                <a:latin typeface="Comic Sans MS" panose="030F0702030302020204" pitchFamily="66" charset="0"/>
              </a:rPr>
              <a:t>The </a:t>
            </a:r>
            <a:r>
              <a:rPr lang="en-US" dirty="0">
                <a:solidFill>
                  <a:srgbClr val="FFFF00"/>
                </a:solidFill>
                <a:latin typeface="Comic Sans MS" panose="030F0702030302020204" pitchFamily="66" charset="0"/>
              </a:rPr>
              <a:t>lowest</a:t>
            </a:r>
            <a:r>
              <a:rPr lang="en-US" dirty="0">
                <a:latin typeface="Comic Sans MS" panose="030F0702030302020204" pitchFamily="66" charset="0"/>
              </a:rPr>
              <a:t> number of content added to Netflix for ( </a:t>
            </a:r>
            <a:r>
              <a:rPr lang="en-US" dirty="0">
                <a:solidFill>
                  <a:srgbClr val="FFFF00"/>
                </a:solidFill>
                <a:latin typeface="Comic Sans MS" panose="030F0702030302020204" pitchFamily="66" charset="0"/>
              </a:rPr>
              <a:t>movie on Saturday(557) and (for tv show on Sunday(182).</a:t>
            </a:r>
          </a:p>
          <a:p>
            <a:endParaRPr lang="en-IN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28062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FA887-CEE9-1B8A-F1D7-4290A98B4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4" y="533399"/>
            <a:ext cx="11582400" cy="156754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  <a:latin typeface="+mn-lt"/>
              </a:rPr>
              <a:t>13. Most frequent directors on the Netflix platform</a:t>
            </a:r>
            <a:br>
              <a:rPr lang="en-US" dirty="0"/>
            </a:b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E74C8A-BC5F-9EE4-21AE-6F9A95D943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17228" y="1556656"/>
            <a:ext cx="4811485" cy="5159827"/>
          </a:xfrm>
        </p:spPr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INSIGHT:</a:t>
            </a:r>
          </a:p>
          <a:p>
            <a:endParaRPr lang="en-US" dirty="0">
              <a:latin typeface="Comic Sans MS" panose="030F0702030302020204" pitchFamily="66" charset="0"/>
            </a:endParaRPr>
          </a:p>
          <a:p>
            <a:r>
              <a:rPr lang="en-US" dirty="0">
                <a:latin typeface="Comic Sans MS" panose="030F0702030302020204" pitchFamily="66" charset="0"/>
              </a:rPr>
              <a:t>Most frequent director for Movies:</a:t>
            </a:r>
          </a:p>
          <a:p>
            <a:r>
              <a:rPr lang="en-US" dirty="0">
                <a:solidFill>
                  <a:srgbClr val="FFFF00"/>
                </a:solidFill>
                <a:latin typeface="Comic Sans MS" panose="030F0702030302020204" pitchFamily="66" charset="0"/>
              </a:rPr>
              <a:t>Rajiv Chilaka (19 Movies)</a:t>
            </a:r>
          </a:p>
          <a:p>
            <a:endParaRPr lang="en-US" dirty="0">
              <a:latin typeface="Comic Sans MS" panose="030F0702030302020204" pitchFamily="66" charset="0"/>
            </a:endParaRPr>
          </a:p>
          <a:p>
            <a:r>
              <a:rPr lang="en-US" dirty="0">
                <a:latin typeface="Comic Sans MS" panose="030F0702030302020204" pitchFamily="66" charset="0"/>
              </a:rPr>
              <a:t>Most frequent director for TV Shows:</a:t>
            </a:r>
          </a:p>
          <a:p>
            <a:r>
              <a:rPr lang="en-US" dirty="0">
                <a:solidFill>
                  <a:srgbClr val="FFFF00"/>
                </a:solidFill>
                <a:latin typeface="Comic Sans MS" panose="030F0702030302020204" pitchFamily="66" charset="0"/>
              </a:rPr>
              <a:t>Alastair Fothergill (14 TV Shows)</a:t>
            </a:r>
            <a:endParaRPr lang="en-IN" dirty="0">
              <a:solidFill>
                <a:srgbClr val="FFFF00"/>
              </a:solidFill>
              <a:latin typeface="Comic Sans MS" panose="030F0702030302020204" pitchFamily="66" charset="0"/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03248611-6012-E74F-F937-203CAEE41A7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7085" y="1556655"/>
            <a:ext cx="6400801" cy="5159827"/>
          </a:xfrm>
        </p:spPr>
      </p:pic>
      <p:sp>
        <p:nvSpPr>
          <p:cNvPr id="12" name="Rectangle 2">
            <a:extLst>
              <a:ext uri="{FF2B5EF4-FFF2-40B4-BE49-F238E27FC236}">
                <a16:creationId xmlns:a16="http://schemas.microsoft.com/office/drawing/2014/main" id="{834FEC9E-EE1D-5F0B-15FC-B5B89CCCA5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menlo"/>
              </a:rPr>
              <a:t>Most frequent director for TV Shows: Alastair Fothergill (14 TV Shows)</a:t>
            </a: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71940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48E07-76BA-E4DF-7E42-849588377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65125"/>
            <a:ext cx="11049000" cy="1325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+mn-lt"/>
              </a:rPr>
              <a:t>14.Difference Year:</a:t>
            </a:r>
            <a:br>
              <a:rPr lang="en-US" dirty="0"/>
            </a:br>
            <a:r>
              <a:rPr lang="en-US" dirty="0"/>
              <a:t>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D84F0-8EC5-74D0-8407-C7576AD82B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3286" y="1328057"/>
            <a:ext cx="5856514" cy="5164817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latin typeface="Comic Sans MS" panose="030F0702030302020204" pitchFamily="66" charset="0"/>
              </a:rPr>
              <a:t>It tell how much time does the title took to release on Netflix before it was released in theatre:</a:t>
            </a:r>
          </a:p>
          <a:p>
            <a:endParaRPr lang="en-US" sz="2400" dirty="0">
              <a:latin typeface="Comic Sans MS" panose="030F0702030302020204" pitchFamily="66" charset="0"/>
            </a:endParaRPr>
          </a:p>
          <a:p>
            <a:r>
              <a:rPr lang="en-US" sz="2400" dirty="0">
                <a:latin typeface="Comic Sans MS" panose="030F0702030302020204" pitchFamily="66" charset="0"/>
              </a:rPr>
              <a:t>Insight:</a:t>
            </a:r>
          </a:p>
          <a:p>
            <a:endParaRPr lang="en-US" sz="2400" dirty="0">
              <a:latin typeface="Comic Sans MS" panose="030F0702030302020204" pitchFamily="66" charset="0"/>
            </a:endParaRPr>
          </a:p>
          <a:p>
            <a:r>
              <a:rPr lang="en-US" sz="2400" dirty="0">
                <a:solidFill>
                  <a:srgbClr val="FFFF00"/>
                </a:solidFill>
                <a:latin typeface="Comic Sans MS" panose="030F0702030302020204" pitchFamily="66" charset="0"/>
              </a:rPr>
              <a:t>The Tv Shows Pioneers: First Women Filmmakers which originates from Pakistan took the longest time (93 Year) to Stream ON Netflix:</a:t>
            </a:r>
            <a:endParaRPr lang="en-IN" sz="2400" dirty="0">
              <a:solidFill>
                <a:srgbClr val="FFFF00"/>
              </a:solidFill>
              <a:latin typeface="Comic Sans MS" panose="030F0702030302020204" pitchFamily="66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3E9815-EF01-2E67-1353-CA897EDF0F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251858"/>
            <a:ext cx="5856513" cy="4963886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latin typeface="Comic Sans MS" panose="030F0702030302020204" pitchFamily="66" charset="0"/>
              </a:rPr>
              <a:t>Insight:</a:t>
            </a:r>
          </a:p>
          <a:p>
            <a:endParaRPr lang="en-US" sz="2400" dirty="0">
              <a:latin typeface="Comic Sans MS" panose="030F0702030302020204" pitchFamily="66" charset="0"/>
            </a:endParaRPr>
          </a:p>
          <a:p>
            <a:r>
              <a:rPr lang="en-US" sz="2400" dirty="0">
                <a:solidFill>
                  <a:srgbClr val="FFFF00"/>
                </a:solidFill>
                <a:latin typeface="Comic Sans MS" panose="030F0702030302020204" pitchFamily="66" charset="0"/>
              </a:rPr>
              <a:t>1.</a:t>
            </a:r>
            <a:r>
              <a:rPr lang="en-US" sz="2400" dirty="0">
                <a:solidFill>
                  <a:srgbClr val="FF0000"/>
                </a:solidFill>
                <a:latin typeface="Comic Sans MS" panose="030F0702030302020204" pitchFamily="66" charset="0"/>
              </a:rPr>
              <a:t>Jake Taylor a Tv Show </a:t>
            </a:r>
            <a:r>
              <a:rPr lang="en-US" sz="2400" dirty="0">
                <a:solidFill>
                  <a:srgbClr val="FFFF00"/>
                </a:solidFill>
                <a:latin typeface="Comic Sans MS" panose="030F0702030302020204" pitchFamily="66" charset="0"/>
              </a:rPr>
              <a:t>which was first stream on Netflix took 3 years to release in Theatre:</a:t>
            </a:r>
          </a:p>
          <a:p>
            <a:endParaRPr lang="en-US" sz="2400" dirty="0">
              <a:solidFill>
                <a:srgbClr val="FFFF00"/>
              </a:solidFill>
              <a:latin typeface="Comic Sans MS" panose="030F0702030302020204" pitchFamily="66" charset="0"/>
            </a:endParaRPr>
          </a:p>
          <a:p>
            <a:r>
              <a:rPr lang="en-US" sz="2400" dirty="0">
                <a:solidFill>
                  <a:srgbClr val="FFFF00"/>
                </a:solidFill>
                <a:latin typeface="Comic Sans MS" panose="030F0702030302020204" pitchFamily="66" charset="0"/>
              </a:rPr>
              <a:t>2</a:t>
            </a:r>
            <a:r>
              <a:rPr lang="en-US" sz="2400" dirty="0">
                <a:solidFill>
                  <a:srgbClr val="FF0000"/>
                </a:solidFill>
                <a:latin typeface="Comic Sans MS" panose="030F0702030302020204" pitchFamily="66" charset="0"/>
              </a:rPr>
              <a:t>.Snnse 8 a Tv Show </a:t>
            </a:r>
            <a:r>
              <a:rPr lang="en-US" sz="2400" dirty="0">
                <a:solidFill>
                  <a:srgbClr val="FFFF00"/>
                </a:solidFill>
                <a:latin typeface="Comic Sans MS" panose="030F0702030302020204" pitchFamily="66" charset="0"/>
              </a:rPr>
              <a:t>which was first stream on Netflix took 2 years to release in Theatre:</a:t>
            </a:r>
          </a:p>
          <a:p>
            <a:endParaRPr lang="en-IN" sz="2400" dirty="0">
              <a:solidFill>
                <a:srgbClr val="FFFF00"/>
              </a:solidFill>
              <a:latin typeface="Comic Sans MS" panose="030F0702030302020204" pitchFamily="66" charset="0"/>
            </a:endParaRPr>
          </a:p>
          <a:p>
            <a:r>
              <a:rPr lang="en-US" sz="2400" dirty="0">
                <a:solidFill>
                  <a:srgbClr val="FFFF00"/>
                </a:solidFill>
                <a:latin typeface="Comic Sans MS" panose="030F0702030302020204" pitchFamily="66" charset="0"/>
              </a:rPr>
              <a:t>There are </a:t>
            </a:r>
            <a:r>
              <a:rPr lang="en-US" sz="2400" dirty="0">
                <a:solidFill>
                  <a:srgbClr val="FF0000"/>
                </a:solidFill>
                <a:latin typeface="Comic Sans MS" panose="030F0702030302020204" pitchFamily="66" charset="0"/>
              </a:rPr>
              <a:t>total 3239 titles </a:t>
            </a:r>
            <a:r>
              <a:rPr lang="en-US" sz="2400" dirty="0">
                <a:solidFill>
                  <a:srgbClr val="FFFF00"/>
                </a:solidFill>
                <a:latin typeface="Comic Sans MS" panose="030F0702030302020204" pitchFamily="66" charset="0"/>
              </a:rPr>
              <a:t>whose release year and streamed year on Netflix is same</a:t>
            </a:r>
            <a:endParaRPr lang="en-IN" sz="2400" dirty="0">
              <a:solidFill>
                <a:srgbClr val="FFFF0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75505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1A516-9821-C72A-C527-8E793FD8F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365125"/>
            <a:ext cx="11049000" cy="1325563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+mn-lt"/>
              </a:rPr>
              <a:t>15.Directors Who worked in Most Genre:</a:t>
            </a:r>
            <a:endParaRPr lang="en-IN" b="1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E278F5A-F37A-12EF-5625-DBC0C05EFBF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04800" y="1912937"/>
            <a:ext cx="5573486" cy="444432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697C37-F30A-BCA6-7DC0-F07473D4C0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72943" y="1912937"/>
            <a:ext cx="4963885" cy="4264026"/>
          </a:xfrm>
        </p:spPr>
        <p:txBody>
          <a:bodyPr/>
          <a:lstStyle/>
          <a:p>
            <a:r>
              <a:rPr lang="en-US" dirty="0">
                <a:latin typeface="Comic Sans MS" panose="030F0702030302020204" pitchFamily="66" charset="0"/>
              </a:rPr>
              <a:t>Insight:</a:t>
            </a:r>
          </a:p>
          <a:p>
            <a:endParaRPr lang="en-US" dirty="0">
              <a:latin typeface="Comic Sans MS" panose="030F0702030302020204" pitchFamily="66" charset="0"/>
            </a:endParaRPr>
          </a:p>
          <a:p>
            <a:r>
              <a:rPr lang="en-US" dirty="0">
                <a:latin typeface="Comic Sans MS" panose="030F0702030302020204" pitchFamily="66" charset="0"/>
              </a:rPr>
              <a:t>-- </a:t>
            </a:r>
            <a:r>
              <a:rPr lang="en-US" dirty="0">
                <a:solidFill>
                  <a:srgbClr val="FFFF00"/>
                </a:solidFill>
                <a:latin typeface="Comic Sans MS" panose="030F0702030302020204" pitchFamily="66" charset="0"/>
              </a:rPr>
              <a:t>Martin Scorsese </a:t>
            </a:r>
            <a:r>
              <a:rPr lang="en-US" dirty="0">
                <a:latin typeface="Comic Sans MS" panose="030F0702030302020204" pitchFamily="66" charset="0"/>
              </a:rPr>
              <a:t>is the director who has worked in the highest number of Genre:</a:t>
            </a:r>
          </a:p>
          <a:p>
            <a:endParaRPr lang="en-IN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3355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E8F43-C92C-2355-6527-A897D1B6D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71" y="681036"/>
            <a:ext cx="12094029" cy="54904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  <a:latin typeface="+mn-lt"/>
              </a:rPr>
              <a:t>16. Top 10 country with the most diverse genre on Netflix</a:t>
            </a:r>
            <a:br>
              <a:rPr lang="en-US" b="1" dirty="0">
                <a:solidFill>
                  <a:srgbClr val="FF0000"/>
                </a:solidFill>
                <a:latin typeface="+mn-lt"/>
              </a:rPr>
            </a:br>
            <a:endParaRPr lang="en-IN" b="1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0E01FD6-210D-C4D1-8508-58BD458B950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06829" y="1600201"/>
            <a:ext cx="5486400" cy="4974770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819973-CA29-09FC-5887-8F9058111E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8400" y="1230085"/>
            <a:ext cx="5105400" cy="5203372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Insight:</a:t>
            </a:r>
          </a:p>
          <a:p>
            <a:endParaRPr lang="en-US" dirty="0">
              <a:latin typeface="Comic Sans MS" panose="030F0702030302020204" pitchFamily="66" charset="0"/>
            </a:endParaRPr>
          </a:p>
          <a:p>
            <a:r>
              <a:rPr lang="en-US" dirty="0">
                <a:latin typeface="Comic Sans MS" panose="030F0702030302020204" pitchFamily="66" charset="0"/>
              </a:rPr>
              <a:t>1 . </a:t>
            </a:r>
            <a:r>
              <a:rPr lang="en-US" dirty="0">
                <a:solidFill>
                  <a:srgbClr val="FFFF00"/>
                </a:solidFill>
                <a:latin typeface="Comic Sans MS" panose="030F0702030302020204" pitchFamily="66" charset="0"/>
              </a:rPr>
              <a:t>United State has the highest number </a:t>
            </a:r>
            <a:r>
              <a:rPr lang="en-US" dirty="0">
                <a:latin typeface="Comic Sans MS" panose="030F0702030302020204" pitchFamily="66" charset="0"/>
              </a:rPr>
              <a:t>of genre on Netflix:</a:t>
            </a:r>
          </a:p>
          <a:p>
            <a:endParaRPr lang="en-US" dirty="0">
              <a:latin typeface="Comic Sans MS" panose="030F0702030302020204" pitchFamily="66" charset="0"/>
            </a:endParaRPr>
          </a:p>
          <a:p>
            <a:r>
              <a:rPr lang="en-US" dirty="0">
                <a:latin typeface="Comic Sans MS" panose="030F0702030302020204" pitchFamily="66" charset="0"/>
              </a:rPr>
              <a:t>2.</a:t>
            </a:r>
            <a:r>
              <a:rPr lang="en-US" dirty="0">
                <a:solidFill>
                  <a:srgbClr val="FFFF00"/>
                </a:solidFill>
                <a:latin typeface="Comic Sans MS" panose="030F0702030302020204" pitchFamily="66" charset="0"/>
              </a:rPr>
              <a:t>India , Pakistan , Australia , United Kingdom and Canada has the 2nd highest number </a:t>
            </a:r>
            <a:r>
              <a:rPr lang="en-US" dirty="0">
                <a:latin typeface="Comic Sans MS" panose="030F0702030302020204" pitchFamily="66" charset="0"/>
              </a:rPr>
              <a:t>of genre on Netflix.</a:t>
            </a:r>
          </a:p>
          <a:p>
            <a:endParaRPr lang="en-US" sz="2600" dirty="0">
              <a:latin typeface="Comic Sans MS" panose="030F0702030302020204" pitchFamily="66" charset="0"/>
            </a:endParaRPr>
          </a:p>
          <a:p>
            <a:r>
              <a:rPr lang="en-US" dirty="0">
                <a:latin typeface="Comic Sans MS" panose="030F0702030302020204" pitchFamily="66" charset="0"/>
              </a:rPr>
              <a:t>3.</a:t>
            </a:r>
            <a:r>
              <a:rPr lang="en-US" dirty="0">
                <a:solidFill>
                  <a:srgbClr val="FFFF00"/>
                </a:solidFill>
                <a:latin typeface="Comic Sans MS" panose="030F0702030302020204" pitchFamily="66" charset="0"/>
              </a:rPr>
              <a:t>France and Japan has the 3rd highest </a:t>
            </a:r>
            <a:r>
              <a:rPr lang="en-US" dirty="0">
                <a:latin typeface="Comic Sans MS" panose="030F0702030302020204" pitchFamily="66" charset="0"/>
              </a:rPr>
              <a:t>number of genre on Netflix</a:t>
            </a:r>
          </a:p>
          <a:p>
            <a:endParaRPr lang="en-IN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70250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B37E9-A567-D3C1-7105-49204A590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914" y="272144"/>
            <a:ext cx="11059886" cy="1219200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+mn-lt"/>
              </a:rPr>
              <a:t>17.Fastest growing genre between 2016 to 2020 ( recent years).</a:t>
            </a:r>
            <a:br>
              <a:rPr lang="en-US" b="1" dirty="0">
                <a:solidFill>
                  <a:srgbClr val="FF0000"/>
                </a:solidFill>
              </a:rPr>
            </a:br>
            <a:endParaRPr lang="en-IN" b="1" dirty="0">
              <a:solidFill>
                <a:srgbClr val="FF0000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3E65464-353B-5331-FA56-A1D2A00B69D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52400" y="1051151"/>
            <a:ext cx="5627913" cy="5306106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764427-A48C-281D-BC96-1EBF71EDD2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051151"/>
            <a:ext cx="5627912" cy="5306106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rgbClr val="FFFF00"/>
                </a:solidFill>
                <a:latin typeface="Comic Sans MS" panose="030F0702030302020204" pitchFamily="66" charset="0"/>
              </a:rPr>
              <a:t>Insight:</a:t>
            </a:r>
          </a:p>
          <a:p>
            <a:pPr>
              <a:buFont typeface="Wingdings" panose="05000000000000000000" pitchFamily="2" charset="2"/>
              <a:buChar char="n"/>
            </a:pPr>
            <a:r>
              <a:rPr lang="en-US" sz="1800" dirty="0">
                <a:latin typeface="Comic Sans MS" panose="030F0702030302020204" pitchFamily="66" charset="0"/>
              </a:rPr>
              <a:t>The fastest growing genre in the recent year between 2016 to 2020 is Romantic Movies followed by Reality TV and Reality Movies</a:t>
            </a:r>
          </a:p>
          <a:p>
            <a:pPr>
              <a:buFont typeface="Wingdings" panose="05000000000000000000" pitchFamily="2" charset="2"/>
              <a:buChar char="n"/>
            </a:pPr>
            <a:endParaRPr lang="en-US" sz="1800" dirty="0">
              <a:latin typeface="Comic Sans MS" panose="030F0702030302020204" pitchFamily="66" charset="0"/>
            </a:endParaRPr>
          </a:p>
          <a:p>
            <a:r>
              <a:rPr lang="en-US" sz="1800" b="1" dirty="0">
                <a:solidFill>
                  <a:srgbClr val="FFFF00"/>
                </a:solidFill>
                <a:latin typeface="Comic Sans MS" panose="030F0702030302020204" pitchFamily="66" charset="0"/>
              </a:rPr>
              <a:t>Why Romantic Movies Are Growing on Netflix</a:t>
            </a:r>
          </a:p>
          <a:p>
            <a:r>
              <a:rPr lang="en-US" sz="1800" dirty="0">
                <a:latin typeface="Comic Sans MS" panose="030F0702030302020204" pitchFamily="66" charset="0"/>
              </a:rPr>
              <a:t>1.Universally relatable and emotionally engaging</a:t>
            </a:r>
          </a:p>
          <a:p>
            <a:r>
              <a:rPr lang="en-US" sz="1800" dirty="0">
                <a:latin typeface="Comic Sans MS" panose="030F0702030302020204" pitchFamily="66" charset="0"/>
              </a:rPr>
              <a:t>2.Boosted by hit Netflix originals (</a:t>
            </a:r>
            <a:r>
              <a:rPr lang="en-US" sz="1800" i="1" dirty="0">
                <a:latin typeface="Comic Sans MS" panose="030F0702030302020204" pitchFamily="66" charset="0"/>
              </a:rPr>
              <a:t>e.g., To All the Boys...</a:t>
            </a:r>
            <a:r>
              <a:rPr lang="en-US" sz="1800" dirty="0">
                <a:latin typeface="Comic Sans MS" panose="030F0702030302020204" pitchFamily="66" charset="0"/>
              </a:rPr>
              <a:t>)</a:t>
            </a:r>
          </a:p>
          <a:p>
            <a:r>
              <a:rPr lang="en-US" sz="1800" dirty="0">
                <a:latin typeface="Comic Sans MS" panose="030F0702030302020204" pitchFamily="66" charset="0"/>
              </a:rPr>
              <a:t>3.Low budget, high return content</a:t>
            </a:r>
          </a:p>
          <a:p>
            <a:r>
              <a:rPr lang="en-US" sz="1800" dirty="0">
                <a:latin typeface="Comic Sans MS" panose="030F0702030302020204" pitchFamily="66" charset="0"/>
              </a:rPr>
              <a:t>4.Increased demand during pandemic for feel-good stories</a:t>
            </a:r>
          </a:p>
          <a:p>
            <a:r>
              <a:rPr lang="en-US" sz="1800" dirty="0">
                <a:latin typeface="Comic Sans MS" panose="030F0702030302020204" pitchFamily="66" charset="0"/>
              </a:rPr>
              <a:t>5.Popular among young audiences and global viewers</a:t>
            </a:r>
          </a:p>
          <a:p>
            <a:r>
              <a:rPr lang="en-US" sz="1800" dirty="0">
                <a:latin typeface="Comic Sans MS" panose="030F0702030302020204" pitchFamily="66" charset="0"/>
              </a:rPr>
              <a:t>6.Netflix’s data-driven focus on trending genres</a:t>
            </a:r>
          </a:p>
          <a:p>
            <a:endParaRPr lang="en-IN" sz="18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71428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4C28E-94C7-8E17-ADAA-5E651D7E6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572" y="313871"/>
            <a:ext cx="11375572" cy="535215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  <a:latin typeface="Algerian" panose="04020705040A02060702" pitchFamily="82" charset="0"/>
              </a:rPr>
              <a:t>Conclusion</a:t>
            </a:r>
            <a:endParaRPr lang="en-IN" dirty="0">
              <a:solidFill>
                <a:srgbClr val="FF0000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88A93-CC0D-109F-CFA4-2927C1846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572" y="1262743"/>
            <a:ext cx="11495314" cy="5366657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Content Boom Post-2015:</a:t>
            </a:r>
            <a:r>
              <a:rPr 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en-US" dirty="0">
                <a:solidFill>
                  <a:srgbClr val="FF66FF"/>
                </a:solidFill>
                <a:latin typeface="Comic Sans MS" panose="030F0702030302020204" pitchFamily="66" charset="0"/>
              </a:rPr>
              <a:t>Massive title growth aligns with Netflix’s global expansion.</a:t>
            </a:r>
          </a:p>
          <a:p>
            <a:endParaRPr lang="en-US" dirty="0">
              <a:solidFill>
                <a:srgbClr val="FF66FF"/>
              </a:solidFill>
              <a:latin typeface="Comic Sans MS" panose="030F0702030302020204" pitchFamily="66" charset="0"/>
            </a:endParaRPr>
          </a:p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Movies &gt; TV Shows (but rising):</a:t>
            </a:r>
            <a:r>
              <a:rPr 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en-US" dirty="0">
                <a:solidFill>
                  <a:srgbClr val="FF66FF"/>
                </a:solidFill>
                <a:latin typeface="Comic Sans MS" panose="030F0702030302020204" pitchFamily="66" charset="0"/>
              </a:rPr>
              <a:t>TV show volume has steadily increased to meet binge-watching demand.</a:t>
            </a:r>
          </a:p>
          <a:p>
            <a:endParaRPr lang="en-US" dirty="0">
              <a:solidFill>
                <a:srgbClr val="FF66FF"/>
              </a:solidFill>
              <a:latin typeface="Comic Sans MS" panose="030F0702030302020204" pitchFamily="66" charset="0"/>
            </a:endParaRPr>
          </a:p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Global Push:</a:t>
            </a:r>
            <a:r>
              <a:rPr 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en-US" dirty="0">
                <a:solidFill>
                  <a:srgbClr val="FF66FF"/>
                </a:solidFill>
                <a:latin typeface="Comic Sans MS" panose="030F0702030302020204" pitchFamily="66" charset="0"/>
              </a:rPr>
              <a:t>While the U.S. leads in content, contributions from India, UK, and South Korea are growing fast.</a:t>
            </a:r>
          </a:p>
          <a:p>
            <a:endParaRPr lang="en-US" dirty="0">
              <a:solidFill>
                <a:srgbClr val="FF66FF"/>
              </a:solidFill>
              <a:latin typeface="Comic Sans MS" panose="030F0702030302020204" pitchFamily="66" charset="0"/>
            </a:endParaRPr>
          </a:p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Popular Genres:</a:t>
            </a:r>
            <a:r>
              <a:rPr 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en-US" dirty="0">
                <a:solidFill>
                  <a:srgbClr val="FF66FF"/>
                </a:solidFill>
                <a:latin typeface="Comic Sans MS" panose="030F0702030302020204" pitchFamily="66" charset="0"/>
              </a:rPr>
              <a:t>Dramas, Comedies, and International titles dominate due to wide audience appeal.</a:t>
            </a:r>
          </a:p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Adult-Focused Content:</a:t>
            </a:r>
            <a:r>
              <a:rPr 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en-US" dirty="0">
                <a:solidFill>
                  <a:srgbClr val="FF66FF"/>
                </a:solidFill>
                <a:latin typeface="Comic Sans MS" panose="030F0702030302020204" pitchFamily="66" charset="0"/>
              </a:rPr>
              <a:t>Most content is aimed at mature and teen viewers (TV-MA, TV-14).</a:t>
            </a:r>
          </a:p>
          <a:p>
            <a:endParaRPr lang="en-US" dirty="0">
              <a:solidFill>
                <a:srgbClr val="FF66FF"/>
              </a:solidFill>
              <a:latin typeface="Comic Sans MS" panose="030F0702030302020204" pitchFamily="66" charset="0"/>
            </a:endParaRPr>
          </a:p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Binge-Worthy Format:</a:t>
            </a:r>
            <a:r>
              <a:rPr 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en-US" dirty="0">
                <a:solidFill>
                  <a:srgbClr val="FF66FF"/>
                </a:solidFill>
                <a:latin typeface="Comic Sans MS" panose="030F0702030302020204" pitchFamily="66" charset="0"/>
              </a:rPr>
              <a:t>Short, limited-season shows are on the rise, boosting engagement.</a:t>
            </a:r>
          </a:p>
          <a:p>
            <a:endParaRPr lang="en-US" dirty="0">
              <a:solidFill>
                <a:srgbClr val="FF66FF"/>
              </a:solidFill>
              <a:latin typeface="Comic Sans MS" panose="030F0702030302020204" pitchFamily="66" charset="0"/>
            </a:endParaRPr>
          </a:p>
          <a:p>
            <a:endParaRPr lang="en-IN" dirty="0">
              <a:solidFill>
                <a:srgbClr val="FF66FF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8835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583</TotalTime>
  <Words>1960</Words>
  <Application>Microsoft Office PowerPoint</Application>
  <PresentationFormat>Widescreen</PresentationFormat>
  <Paragraphs>225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Algerian</vt:lpstr>
      <vt:lpstr>Arial</vt:lpstr>
      <vt:lpstr>Calibri</vt:lpstr>
      <vt:lpstr>Calibri Light</vt:lpstr>
      <vt:lpstr>Comic Sans MS</vt:lpstr>
      <vt:lpstr>menlo</vt:lpstr>
      <vt:lpstr>Wingdings</vt:lpstr>
      <vt:lpstr>Office Theme</vt:lpstr>
      <vt:lpstr>NETFLIX</vt:lpstr>
      <vt:lpstr>Netflix History</vt:lpstr>
      <vt:lpstr>OBJECTIVE</vt:lpstr>
      <vt:lpstr>PREPROCESSING DATA STEPS</vt:lpstr>
      <vt:lpstr>Dataset Overview</vt:lpstr>
      <vt:lpstr>Columns Overview :</vt:lpstr>
      <vt:lpstr>       Exploratory Data Analysis</vt:lpstr>
      <vt:lpstr>1.Distribution of Netflix content over the years:</vt:lpstr>
      <vt:lpstr> 2. Distribution of Rating:</vt:lpstr>
      <vt:lpstr>3. Distribution of Types:</vt:lpstr>
      <vt:lpstr>4.Top 10 Countries with highest number of Netflix titles:</vt:lpstr>
      <vt:lpstr> 5 Analyze the growth of Movies and TV Shows over the years. </vt:lpstr>
      <vt:lpstr>   INSIGHT:</vt:lpstr>
      <vt:lpstr>6.Most Watched Genre</vt:lpstr>
      <vt:lpstr>7.Distribution of Duration of Movies</vt:lpstr>
      <vt:lpstr>8.Distribution of Duration of Tv Shows(in seasons)</vt:lpstr>
      <vt:lpstr>9. Distribution of content across different category: </vt:lpstr>
      <vt:lpstr>10.Distribution of Netflix Content over Month:</vt:lpstr>
      <vt:lpstr>11. Distribution of Netflix content over quarter</vt:lpstr>
      <vt:lpstr>12 . Distribution of Netflix Content over weeks</vt:lpstr>
      <vt:lpstr>13. Most frequent directors on the Netflix platform </vt:lpstr>
      <vt:lpstr>14.Difference Year:  </vt:lpstr>
      <vt:lpstr>15.Directors Who worked in Most Genre:</vt:lpstr>
      <vt:lpstr>16. Top 10 country with the most diverse genre on Netflix </vt:lpstr>
      <vt:lpstr>17.Fastest growing genre between 2016 to 2020 ( recent years).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Sahil Kumar</dc:creator>
  <cp:lastModifiedBy>Sahil Kumar</cp:lastModifiedBy>
  <cp:revision>4</cp:revision>
  <dcterms:created xsi:type="dcterms:W3CDTF">2025-07-16T03:40:41Z</dcterms:created>
  <dcterms:modified xsi:type="dcterms:W3CDTF">2025-07-30T08:06:26Z</dcterms:modified>
</cp:coreProperties>
</file>